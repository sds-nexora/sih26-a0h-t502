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7" r:id="rId2"/>
    <p:sldId id="281" r:id="rId3"/>
    <p:sldId id="290" r:id="rId4"/>
    <p:sldId id="293" r:id="rId5"/>
    <p:sldId id="294" r:id="rId6"/>
    <p:sldId id="296" r:id="rId7"/>
    <p:sldId id="298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93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ASHREEKA DS" userId="eb9dbfa756afcaf4" providerId="LiveId" clId="{27D43C36-3A7B-4F69-BF6E-DB1B6296EB30}"/>
    <pc:docChg chg="custSel addSld modSld">
      <pc:chgData name="SUBASHREEKA DS" userId="eb9dbfa756afcaf4" providerId="LiveId" clId="{27D43C36-3A7B-4F69-BF6E-DB1B6296EB30}" dt="2026-09-02T17:22:07.349" v="60" actId="20577"/>
      <pc:docMkLst>
        <pc:docMk/>
      </pc:docMkLst>
      <pc:sldChg chg="modSp mod">
        <pc:chgData name="SUBASHREEKA DS" userId="eb9dbfa756afcaf4" providerId="LiveId" clId="{27D43C36-3A7B-4F69-BF6E-DB1B6296EB30}" dt="2026-09-02T17:22:07.349" v="60" actId="20577"/>
        <pc:sldMkLst>
          <pc:docMk/>
          <pc:sldMk cId="919044861" sldId="297"/>
        </pc:sldMkLst>
        <pc:spChg chg="mod">
          <ac:chgData name="SUBASHREEKA DS" userId="eb9dbfa756afcaf4" providerId="LiveId" clId="{27D43C36-3A7B-4F69-BF6E-DB1B6296EB30}" dt="2026-09-02T17:22:07.349" v="60" actId="20577"/>
          <ac:spMkLst>
            <pc:docMk/>
            <pc:sldMk cId="919044861" sldId="297"/>
            <ac:spMk id="9" creationId="{200E32BC-3D18-0E8D-8D61-5B9726918AC2}"/>
          </ac:spMkLst>
        </pc:spChg>
      </pc:sldChg>
      <pc:sldChg chg="delSp modSp new mod">
        <pc:chgData name="SUBASHREEKA DS" userId="eb9dbfa756afcaf4" providerId="LiveId" clId="{27D43C36-3A7B-4F69-BF6E-DB1B6296EB30}" dt="2026-09-02T17:18:22.866" v="16" actId="255"/>
        <pc:sldMkLst>
          <pc:docMk/>
          <pc:sldMk cId="1916898963" sldId="298"/>
        </pc:sldMkLst>
        <pc:spChg chg="mod">
          <ac:chgData name="SUBASHREEKA DS" userId="eb9dbfa756afcaf4" providerId="LiveId" clId="{27D43C36-3A7B-4F69-BF6E-DB1B6296EB30}" dt="2026-09-02T17:18:22.866" v="16" actId="255"/>
          <ac:spMkLst>
            <pc:docMk/>
            <pc:sldMk cId="1916898963" sldId="298"/>
            <ac:spMk id="2" creationId="{23005A02-6E36-7E79-7B23-2973FA03FB78}"/>
          </ac:spMkLst>
        </pc:spChg>
        <pc:spChg chg="del">
          <ac:chgData name="SUBASHREEKA DS" userId="eb9dbfa756afcaf4" providerId="LiveId" clId="{27D43C36-3A7B-4F69-BF6E-DB1B6296EB30}" dt="2026-09-02T17:17:56.787" v="10" actId="478"/>
          <ac:spMkLst>
            <pc:docMk/>
            <pc:sldMk cId="1916898963" sldId="298"/>
            <ac:spMk id="3" creationId="{05FEDE67-DDCA-B1EE-3CD6-3B57664CA34D}"/>
          </ac:spMkLst>
        </pc:spChg>
        <pc:spChg chg="del mod">
          <ac:chgData name="SUBASHREEKA DS" userId="eb9dbfa756afcaf4" providerId="LiveId" clId="{27D43C36-3A7B-4F69-BF6E-DB1B6296EB30}" dt="2026-09-02T17:18:03.503" v="13" actId="478"/>
          <ac:spMkLst>
            <pc:docMk/>
            <pc:sldMk cId="1916898963" sldId="298"/>
            <ac:spMk id="4" creationId="{46D0FB7A-3E27-22F7-4782-11968ABC6C9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77ED51-D95B-7AE7-3E74-1B6D16934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DE3457F-1721-F86E-D3E8-9F009F49A6C2}"/>
              </a:ext>
            </a:extLst>
          </p:cNvPr>
          <p:cNvSpPr txBox="1">
            <a:spLocks/>
          </p:cNvSpPr>
          <p:nvPr/>
        </p:nvSpPr>
        <p:spPr bwMode="auto">
          <a:xfrm>
            <a:off x="606493" y="301953"/>
            <a:ext cx="10363200" cy="562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spcAft>
                <a:spcPts val="400"/>
              </a:spcAft>
              <a:defRPr sz="2700" b="1">
                <a:solidFill>
                  <a:srgbClr val="0070C0"/>
                </a:solidFill>
                <a:latin typeface="Georgia"/>
              </a:defRPr>
            </a:pPr>
            <a:r>
              <a:rPr lang="en-IN" sz="2700" b="1" dirty="0">
                <a:solidFill>
                  <a:srgbClr val="0070C0"/>
                </a:solidFill>
                <a:latin typeface="Georgia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0E32BC-3D18-0E8D-8D61-5B9726918AC2}"/>
              </a:ext>
            </a:extLst>
          </p:cNvPr>
          <p:cNvSpPr txBox="1"/>
          <p:nvPr/>
        </p:nvSpPr>
        <p:spPr>
          <a:xfrm>
            <a:off x="331286" y="2076450"/>
            <a:ext cx="5924550" cy="26161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600" b="1" dirty="0"/>
              <a:t>PROBLEM STATEMENT ID 	–	 SIH26044</a:t>
            </a:r>
          </a:p>
          <a:p>
            <a:pPr>
              <a:spcAft>
                <a:spcPts val="4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600" b="1" dirty="0"/>
              <a:t>PROBLEM STATEMENT TITLE 	–   	PORTAL FOR ACADEMIA - </a:t>
            </a:r>
            <a:r>
              <a:rPr lang="en-IN" sz="1600" b="1"/>
              <a:t>INDUSTRY COLLABORATION FOR SKILL MAPPING, INTERNSHIPS </a:t>
            </a:r>
            <a:r>
              <a:rPr lang="en-IN" sz="1600" b="1" dirty="0"/>
              <a:t>AND </a:t>
            </a:r>
            <a:r>
              <a:rPr lang="en-IN" sz="1600" b="1"/>
              <a:t>	PLACEMENT</a:t>
            </a:r>
            <a:endParaRPr lang="en-IN" sz="1600" b="1" dirty="0"/>
          </a:p>
          <a:p>
            <a:pPr>
              <a:spcAft>
                <a:spcPts val="4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600" b="1" dirty="0"/>
              <a:t>THEME 					–	 SMART AUTOMATION</a:t>
            </a:r>
          </a:p>
          <a:p>
            <a:pPr>
              <a:spcAft>
                <a:spcPts val="4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600" b="1" dirty="0"/>
              <a:t>PS CATEGORY 				–	 SOFTWARE</a:t>
            </a:r>
          </a:p>
          <a:p>
            <a:pPr>
              <a:spcAft>
                <a:spcPts val="4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600" b="1" dirty="0"/>
              <a:t>SPONSOR 				–	 MINISTRY OF AYUSH</a:t>
            </a:r>
          </a:p>
          <a:p>
            <a:pPr>
              <a:spcAft>
                <a:spcPts val="4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600" b="1" dirty="0"/>
              <a:t>TEAM ID 					–	 SIH26-A0H-T502</a:t>
            </a:r>
          </a:p>
          <a:p>
            <a:pPr>
              <a:spcAft>
                <a:spcPts val="4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600" b="1" dirty="0"/>
              <a:t>TEAM NAME 				–	 NEXORA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E86399C-1D31-BB46-D268-B60DA416D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961" y="774609"/>
            <a:ext cx="5273439" cy="57643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6BCD80-2808-E1A1-0BDC-A53DE2476D30}"/>
              </a:ext>
            </a:extLst>
          </p:cNvPr>
          <p:cNvSpPr txBox="1"/>
          <p:nvPr/>
        </p:nvSpPr>
        <p:spPr>
          <a:xfrm>
            <a:off x="-2046298" y="434079"/>
            <a:ext cx="5625970" cy="5559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0172A8-7BFF-1419-1F4A-65FD00AE23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7769291" y="2310974"/>
            <a:ext cx="3203509" cy="3426237"/>
          </a:xfrm>
          <a:prstGeom prst="rect">
            <a:avLst/>
          </a:prstGeom>
        </p:spPr>
      </p:pic>
      <p:sp>
        <p:nvSpPr>
          <p:cNvPr id="7" name="Subtitle 3">
            <a:extLst>
              <a:ext uri="{FF2B5EF4-FFF2-40B4-BE49-F238E27FC236}">
                <a16:creationId xmlns:a16="http://schemas.microsoft.com/office/drawing/2014/main" id="{EE6B029D-56B0-ABAC-F16B-BA532F0F554A}"/>
              </a:ext>
            </a:extLst>
          </p:cNvPr>
          <p:cNvSpPr txBox="1">
            <a:spLocks/>
          </p:cNvSpPr>
          <p:nvPr/>
        </p:nvSpPr>
        <p:spPr bwMode="auto">
          <a:xfrm>
            <a:off x="1219200" y="815532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400"/>
              </a:spcAft>
              <a:buNone/>
              <a:defRPr sz="3100" b="1">
                <a:solidFill>
                  <a:srgbClr val="183048"/>
                </a:solidFill>
                <a:latin typeface="Georgia"/>
              </a:defRPr>
            </a:pPr>
            <a:r>
              <a:rPr lang="en-IN" sz="3100" b="1" dirty="0">
                <a:solidFill>
                  <a:srgbClr val="183048"/>
                </a:solidFill>
                <a:latin typeface="Georgia"/>
              </a:rPr>
              <a:t>SKILLBRIDGE</a:t>
            </a:r>
            <a:endParaRPr lang="en-IN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34BADB4-6CA6-C7EB-DE77-25D6C8630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BFF37939-94B5-F508-E4D5-C7C790777AFF}"/>
              </a:ext>
            </a:extLst>
          </p:cNvPr>
          <p:cNvSpPr/>
          <p:nvPr/>
        </p:nvSpPr>
        <p:spPr>
          <a:xfrm>
            <a:off x="233082" y="206188"/>
            <a:ext cx="1640541" cy="85764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6E5911-5FC0-60FC-D67F-0B83C1A7F7B1}"/>
              </a:ext>
            </a:extLst>
          </p:cNvPr>
          <p:cNvSpPr txBox="1"/>
          <p:nvPr/>
        </p:nvSpPr>
        <p:spPr>
          <a:xfrm>
            <a:off x="502024" y="502024"/>
            <a:ext cx="1093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NEXORA</a:t>
            </a:r>
          </a:p>
        </p:txBody>
      </p:sp>
    </p:spTree>
    <p:extLst>
      <p:ext uri="{BB962C8B-B14F-4D97-AF65-F5344CB8AC3E}">
        <p14:creationId xmlns:p14="http://schemas.microsoft.com/office/powerpoint/2010/main" val="919044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452068"/>
            <a:ext cx="109728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14375A"/>
                </a:solidFill>
              </a:defRPr>
            </a:pPr>
            <a:r>
              <a:rPr dirty="0"/>
              <a:t>IDEA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96012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0C416E"/>
                </a:solidFill>
              </a:defRPr>
            </a:pPr>
            <a:r>
              <a:t>SKILLBRIDGE AI — AI-powered Academia–Industry Collaboration &amp; Skill Matching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353312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32D37"/>
                </a:solidFill>
              </a:defRPr>
            </a:pPr>
            <a:r>
              <a:t>Proposed Solution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719072"/>
            <a:ext cx="34747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200" b="1">
                <a:solidFill>
                  <a:srgbClr val="14466E"/>
                </a:solidFill>
              </a:defRPr>
            </a:pPr>
            <a:r>
              <a:rPr sz="1400"/>
              <a:t>CAPTURE DEMAND</a:t>
            </a:r>
          </a:p>
          <a:p>
            <a:pPr>
              <a:defRPr sz="900">
                <a:solidFill>
                  <a:srgbClr val="2D3741"/>
                </a:solidFill>
              </a:defRPr>
            </a:pPr>
            <a:r>
              <a:rPr sz="1400"/>
              <a:t>Companies post projects, internships and skill requirements in a structured format.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719072"/>
            <a:ext cx="34747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200" b="1">
                <a:solidFill>
                  <a:srgbClr val="14466E"/>
                </a:solidFill>
              </a:defRPr>
            </a:pPr>
            <a:r>
              <a:rPr sz="1400"/>
              <a:t>AI MATCH</a:t>
            </a:r>
          </a:p>
          <a:p>
            <a:pPr>
              <a:defRPr sz="900">
                <a:solidFill>
                  <a:srgbClr val="2D3741"/>
                </a:solidFill>
              </a:defRPr>
            </a:pPr>
            <a:r>
              <a:rPr sz="1400"/>
              <a:t>NLP + semantic embeddings + constraints rank suitable students and teams.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719072"/>
            <a:ext cx="34747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200" b="1">
                <a:solidFill>
                  <a:srgbClr val="14466E"/>
                </a:solidFill>
              </a:defRPr>
            </a:pPr>
            <a:r>
              <a:rPr sz="1400"/>
              <a:t>SKILL GAP</a:t>
            </a:r>
          </a:p>
          <a:p>
            <a:pPr>
              <a:defRPr sz="900">
                <a:solidFill>
                  <a:srgbClr val="2D3741"/>
                </a:solidFill>
              </a:defRPr>
            </a:pPr>
            <a:r>
              <a:rPr sz="1400"/>
              <a:t>Missing capabilities become targeted learning, mentor or teammate recommendations.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090672"/>
            <a:ext cx="5349240" cy="120700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200" b="1">
                <a:solidFill>
                  <a:srgbClr val="14466E"/>
                </a:solidFill>
              </a:defRPr>
            </a:pPr>
            <a:r>
              <a:rPr sz="1400"/>
              <a:t>COLLABORATE</a:t>
            </a:r>
          </a:p>
          <a:p>
            <a:pPr>
              <a:defRPr sz="900">
                <a:solidFill>
                  <a:srgbClr val="2D3741"/>
                </a:solidFill>
              </a:defRPr>
            </a:pPr>
            <a:r>
              <a:rPr sz="1400"/>
              <a:t>A shared workspace manages milestones, mentoring, evidence and industry evaluation.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090672"/>
            <a:ext cx="5394960" cy="120700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200" b="1">
                <a:solidFill>
                  <a:srgbClr val="14466E"/>
                </a:solidFill>
              </a:defRPr>
            </a:pPr>
            <a:r>
              <a:rPr sz="1400"/>
              <a:t>CLOSED LOOP</a:t>
            </a:r>
          </a:p>
          <a:p>
            <a:pPr>
              <a:defRPr sz="900">
                <a:solidFill>
                  <a:srgbClr val="2D3741"/>
                </a:solidFill>
              </a:defRPr>
            </a:pPr>
            <a:r>
              <a:rPr sz="1400"/>
              <a:t>Industry Demand → Match → Project/Internship → Evaluation → Updated Skill Profile.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617720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32D37"/>
                </a:solidFill>
              </a:defRPr>
            </a:pPr>
            <a:r>
              <a:rPr dirty="0"/>
              <a:t>How it addresses the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76479"/>
            <a:ext cx="106984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</a:defRPr>
            </a:pPr>
            <a:r>
              <a:rPr sz="1400"/>
              <a:t>It turns disconnected academic profiles and industry requirements into an actionable, measurable collaboration pipeline.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579400"/>
            <a:ext cx="10972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4466E"/>
                </a:solidFill>
              </a:defRPr>
            </a:pPr>
            <a:r>
              <a:rPr sz="1400"/>
              <a:t>Innovation &amp; uniqueness: explainable matching + AI team formation + continuous skill intelligence.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31089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46E78"/>
                </a:solidFill>
              </a:defRPr>
            </a:pPr>
            <a:r>
              <a:rPr dirty="0"/>
              <a:t>SKILLBRIDGE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6419088"/>
            <a:ext cx="2560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</a:defRPr>
            </a:pPr>
            <a:r>
              <a:t>SIH 2026  •  2/6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571F0F-8045-4E66-89CA-582DB2D18442}"/>
              </a:ext>
            </a:extLst>
          </p:cNvPr>
          <p:cNvSpPr/>
          <p:nvPr/>
        </p:nvSpPr>
        <p:spPr>
          <a:xfrm>
            <a:off x="242048" y="206188"/>
            <a:ext cx="1479176" cy="6767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D2102-B2D9-64BD-29EA-02DBEA3E98F3}"/>
              </a:ext>
            </a:extLst>
          </p:cNvPr>
          <p:cNvSpPr txBox="1"/>
          <p:nvPr/>
        </p:nvSpPr>
        <p:spPr>
          <a:xfrm>
            <a:off x="434789" y="391919"/>
            <a:ext cx="1093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NEXORA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452068"/>
            <a:ext cx="109728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14375A"/>
                </a:solidFill>
              </a:defRPr>
            </a:pPr>
            <a:r>
              <a:rPr dirty="0"/>
              <a:t>TECHNICAL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960120"/>
            <a:ext cx="10972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32D37"/>
                </a:solidFill>
              </a:defRPr>
            </a:pPr>
            <a:r>
              <a:t>Methodology and implementation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307592"/>
            <a:ext cx="2057400" cy="111556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/>
              <a:t>01  CAPTURE</a:t>
            </a:r>
          </a:p>
          <a:p>
            <a:pPr>
              <a:defRPr sz="850">
                <a:solidFill>
                  <a:srgbClr val="2D3741"/>
                </a:solidFill>
              </a:defRPr>
            </a:pPr>
            <a:r>
              <a:rPr sz="1400"/>
              <a:t>Profiles + industry briefs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0632" y="1307592"/>
            <a:ext cx="2057400" cy="111556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/>
              <a:t>02  UNDERSTAND</a:t>
            </a:r>
          </a:p>
          <a:p>
            <a:pPr>
              <a:defRPr sz="850">
                <a:solidFill>
                  <a:srgbClr val="2D3741"/>
                </a:solidFill>
              </a:defRPr>
            </a:pPr>
            <a:r>
              <a:rPr sz="1400"/>
              <a:t>NLP + skill taxonomy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1307592"/>
            <a:ext cx="2057400" cy="111556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/>
              <a:t>03  MATCH</a:t>
            </a:r>
          </a:p>
          <a:p>
            <a:pPr>
              <a:defRPr sz="850">
                <a:solidFill>
                  <a:srgbClr val="2D3741"/>
                </a:solidFill>
              </a:defRPr>
            </a:pPr>
            <a:r>
              <a:rPr sz="1400"/>
              <a:t>Embeddings + constraints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06055" y="1307592"/>
            <a:ext cx="2057400" cy="111556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/>
              <a:t>04  GAP</a:t>
            </a:r>
          </a:p>
          <a:p>
            <a:pPr>
              <a:defRPr sz="850">
                <a:solidFill>
                  <a:srgbClr val="2D3741"/>
                </a:solidFill>
              </a:defRPr>
            </a:pPr>
            <a:r>
              <a:rPr sz="1400"/>
              <a:t>Missing skills + 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73768" y="1307592"/>
            <a:ext cx="2057400" cy="111556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 dirty="0"/>
              <a:t>05  TRACK</a:t>
            </a:r>
          </a:p>
          <a:p>
            <a:pPr>
              <a:defRPr sz="850">
                <a:solidFill>
                  <a:srgbClr val="2D3741"/>
                </a:solidFill>
              </a:defRPr>
            </a:pPr>
            <a:r>
              <a:rPr sz="1400" dirty="0"/>
              <a:t>Milestones +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644176"/>
            <a:ext cx="10972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32D37"/>
                </a:solidFill>
              </a:defRPr>
            </a:pPr>
            <a:r>
              <a:rPr sz="1400"/>
              <a:t>Technologies to be used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990088"/>
            <a:ext cx="3429000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150" b="1">
                <a:solidFill>
                  <a:srgbClr val="14466E"/>
                </a:solidFill>
              </a:defRPr>
            </a:pPr>
            <a:r>
              <a:rPr sz="1400"/>
              <a:t>FRONTEND</a:t>
            </a:r>
          </a:p>
          <a:p>
            <a:pPr>
              <a:defRPr sz="1000">
                <a:solidFill>
                  <a:srgbClr val="2D3741"/>
                </a:solidFill>
              </a:defRPr>
            </a:pPr>
            <a:r>
              <a:rPr sz="1400"/>
              <a:t>React / Flutter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24528" y="2990088"/>
            <a:ext cx="3429000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150" b="1">
                <a:solidFill>
                  <a:srgbClr val="14466E"/>
                </a:solidFill>
              </a:defRPr>
            </a:pPr>
            <a:r>
              <a:rPr sz="1400"/>
              <a:t>BACKEND</a:t>
            </a:r>
          </a:p>
          <a:p>
            <a:pPr>
              <a:defRPr sz="950">
                <a:solidFill>
                  <a:srgbClr val="2D3741"/>
                </a:solidFill>
              </a:defRPr>
            </a:pPr>
            <a:r>
              <a:rPr sz="1400"/>
              <a:t>FastAPI / Node.js + role-based APIs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54696" y="2990088"/>
            <a:ext cx="3429000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150" b="1">
                <a:solidFill>
                  <a:srgbClr val="14466E"/>
                </a:solidFill>
              </a:defRPr>
            </a:pPr>
            <a:r>
              <a:rPr sz="1400"/>
              <a:t>AI + DATA</a:t>
            </a:r>
          </a:p>
          <a:p>
            <a:pPr>
              <a:defRPr sz="900">
                <a:solidFill>
                  <a:srgbClr val="2D3741"/>
                </a:solidFill>
              </a:defRPr>
            </a:pPr>
            <a:r>
              <a:rPr sz="1400"/>
              <a:t>Python • NLP • PostgreSQL • pgvector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279392"/>
            <a:ext cx="5230368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200" b="1">
                <a:solidFill>
                  <a:srgbClr val="14466E"/>
                </a:solidFill>
              </a:defRPr>
            </a:pPr>
            <a:r>
              <a:rPr sz="1400"/>
              <a:t>MATCH ENGINE</a:t>
            </a:r>
          </a:p>
          <a:p>
            <a:pPr>
              <a:defRPr sz="900">
                <a:solidFill>
                  <a:srgbClr val="2D3741"/>
                </a:solidFill>
              </a:defRPr>
            </a:pPr>
            <a:r>
              <a:rPr sz="1400"/>
              <a:t>Semantic similarity finds relevant candidates; hard constraints prevent invalid matches.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279392"/>
            <a:ext cx="5230368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200" b="1">
                <a:solidFill>
                  <a:srgbClr val="14466E"/>
                </a:solidFill>
              </a:defRPr>
            </a:pPr>
            <a:r>
              <a:rPr sz="1400"/>
              <a:t>TRUST + SCALE</a:t>
            </a:r>
          </a:p>
          <a:p>
            <a:pPr>
              <a:defRPr sz="900">
                <a:solidFill>
                  <a:srgbClr val="2D3741"/>
                </a:solidFill>
              </a:defRPr>
            </a:pPr>
            <a:r>
              <a:rPr sz="1400"/>
              <a:t>Explainable evidence, audit logs, human approval and modular cloud services.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65099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4466E"/>
                </a:solidFill>
              </a:defRPr>
            </a:pPr>
            <a:r>
              <a:t>Architecture principle: AI recommends — constraints validate — humans retain final control.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19088"/>
            <a:ext cx="31089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46E78"/>
                </a:solidFill>
              </a:defRPr>
            </a:pPr>
            <a:r>
              <a:t>SKILLBRIDGE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6419088"/>
            <a:ext cx="2560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</a:defRPr>
            </a:pPr>
            <a:r>
              <a:t>SIH 2026  •  3/6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190DD92-EDD4-D5A7-E166-E6E76D86114F}"/>
              </a:ext>
            </a:extLst>
          </p:cNvPr>
          <p:cNvSpPr/>
          <p:nvPr/>
        </p:nvSpPr>
        <p:spPr>
          <a:xfrm>
            <a:off x="292949" y="186892"/>
            <a:ext cx="1479176" cy="6767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C5A0A4-96EC-774F-076E-C02E55FB3181}"/>
              </a:ext>
            </a:extLst>
          </p:cNvPr>
          <p:cNvSpPr txBox="1"/>
          <p:nvPr/>
        </p:nvSpPr>
        <p:spPr>
          <a:xfrm>
            <a:off x="502920" y="403899"/>
            <a:ext cx="1093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NEXORA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452068"/>
            <a:ext cx="109728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14375A"/>
                </a:solidFill>
              </a:defRPr>
            </a:pPr>
            <a:r>
              <a:rPr dirty="0"/>
              <a:t>FEASIBILITY AND VIABILITY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987552"/>
            <a:ext cx="34747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200" b="1">
                <a:solidFill>
                  <a:srgbClr val="14466E"/>
                </a:solidFill>
              </a:defRPr>
            </a:pPr>
            <a:r>
              <a:rPr sz="1400"/>
              <a:t>MVP FEASIBLE</a:t>
            </a:r>
          </a:p>
          <a:p>
            <a:pPr>
              <a:defRPr sz="900">
                <a:solidFill>
                  <a:srgbClr val="2D3741"/>
                </a:solidFill>
              </a:defRPr>
            </a:pPr>
            <a:r>
              <a:rPr sz="1400"/>
              <a:t>Self-entered profiles + curated taxonomy + representative industry requirements.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987552"/>
            <a:ext cx="34747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200" b="1">
                <a:solidFill>
                  <a:srgbClr val="14466E"/>
                </a:solidFill>
              </a:defRPr>
            </a:pPr>
            <a:r>
              <a:rPr sz="1400"/>
              <a:t>COLD-START READY</a:t>
            </a:r>
          </a:p>
          <a:p>
            <a:pPr>
              <a:defRPr sz="900">
                <a:solidFill>
                  <a:srgbClr val="2D3741"/>
                </a:solidFill>
              </a:defRPr>
            </a:pPr>
            <a:r>
              <a:rPr sz="1400"/>
              <a:t>Hybrid rules + semantic matching + feedback; no large historical dataset required initially.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0727" y="987552"/>
            <a:ext cx="34747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200" b="1">
                <a:solidFill>
                  <a:srgbClr val="14466E"/>
                </a:solidFill>
              </a:defRPr>
            </a:pPr>
            <a:r>
              <a:rPr sz="1400"/>
              <a:t>PRIVACY-AWARE</a:t>
            </a:r>
          </a:p>
          <a:p>
            <a:pPr>
              <a:defRPr sz="900">
                <a:solidFill>
                  <a:srgbClr val="2D3741"/>
                </a:solidFill>
              </a:defRPr>
            </a:pPr>
            <a:r>
              <a:rPr sz="1400"/>
              <a:t>Consent, minimum data, encryption, role-based access and auditability.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404872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32D37"/>
                </a:solidFill>
              </a:defRPr>
            </a:pPr>
            <a:r>
              <a:t>Potential challenges and mitigation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16352"/>
            <a:ext cx="306324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19" b="1">
                <a:solidFill>
                  <a:srgbClr val="14466E"/>
                </a:solidFill>
              </a:defRPr>
            </a:pPr>
            <a:r>
              <a:rPr sz="1200"/>
              <a:t>Skill-name variation</a:t>
            </a:r>
          </a:p>
          <a:p>
            <a:pPr>
              <a:defRPr sz="800">
                <a:solidFill>
                  <a:srgbClr val="2D3741"/>
                </a:solidFill>
              </a:defRPr>
            </a:pPr>
            <a:endParaRPr sz="1200"/>
          </a:p>
        </p:txBody>
      </p:sp>
      <p:sp>
        <p:nvSpPr>
          <p:cNvPr id="18" name="Rounded Rectangle 17"/>
          <p:cNvSpPr/>
          <p:nvPr/>
        </p:nvSpPr>
        <p:spPr>
          <a:xfrm>
            <a:off x="3886200" y="2816352"/>
            <a:ext cx="74523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19" b="1">
                <a:solidFill>
                  <a:srgbClr val="14466E"/>
                </a:solidFill>
              </a:defRPr>
            </a:pPr>
            <a:r>
              <a:rPr sz="1200"/>
              <a:t>MITIGATION</a:t>
            </a:r>
          </a:p>
          <a:p>
            <a:pPr>
              <a:defRPr sz="850">
                <a:solidFill>
                  <a:srgbClr val="2D3741"/>
                </a:solidFill>
              </a:defRPr>
            </a:pPr>
            <a:r>
              <a:rPr sz="1200"/>
              <a:t>Canonical taxonomy + aliases + semantic embeddings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38144"/>
            <a:ext cx="306324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19" b="1">
                <a:solidFill>
                  <a:srgbClr val="14466E"/>
                </a:solidFill>
              </a:defRPr>
            </a:pPr>
            <a:r>
              <a:rPr sz="1200"/>
              <a:t>Limited historical data</a:t>
            </a:r>
          </a:p>
          <a:p>
            <a:pPr>
              <a:defRPr sz="800">
                <a:solidFill>
                  <a:srgbClr val="2D3741"/>
                </a:solidFill>
              </a:defRPr>
            </a:pPr>
            <a:endParaRPr sz="1200"/>
          </a:p>
        </p:txBody>
      </p:sp>
      <p:sp>
        <p:nvSpPr>
          <p:cNvPr id="20" name="Rounded Rectangle 19"/>
          <p:cNvSpPr/>
          <p:nvPr/>
        </p:nvSpPr>
        <p:spPr>
          <a:xfrm>
            <a:off x="3886200" y="3438144"/>
            <a:ext cx="74523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19" b="1">
                <a:solidFill>
                  <a:srgbClr val="14466E"/>
                </a:solidFill>
              </a:defRPr>
            </a:pPr>
            <a:r>
              <a:rPr sz="1200"/>
              <a:t>MITIGATION</a:t>
            </a:r>
          </a:p>
          <a:p>
            <a:pPr>
              <a:defRPr sz="850">
                <a:solidFill>
                  <a:srgbClr val="2D3741"/>
                </a:solidFill>
              </a:defRPr>
            </a:pPr>
            <a:r>
              <a:rPr sz="1200"/>
              <a:t>Seed mappings + constraints + continuous feedback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59936"/>
            <a:ext cx="306324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19" b="1">
                <a:solidFill>
                  <a:srgbClr val="14466E"/>
                </a:solidFill>
              </a:defRPr>
            </a:pPr>
            <a:r>
              <a:rPr sz="1200"/>
              <a:t>Bias in ranking</a:t>
            </a:r>
          </a:p>
          <a:p>
            <a:pPr>
              <a:defRPr sz="800">
                <a:solidFill>
                  <a:srgbClr val="2D3741"/>
                </a:solidFill>
              </a:defRPr>
            </a:pP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3886200" y="4059936"/>
            <a:ext cx="74523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19" b="1">
                <a:solidFill>
                  <a:srgbClr val="14466E"/>
                </a:solidFill>
              </a:defRPr>
            </a:pPr>
            <a:r>
              <a:rPr sz="1200"/>
              <a:t>MITIGATION</a:t>
            </a:r>
          </a:p>
          <a:p>
            <a:pPr>
              <a:defRPr sz="850">
                <a:solidFill>
                  <a:srgbClr val="2D3741"/>
                </a:solidFill>
              </a:defRPr>
            </a:pPr>
            <a:r>
              <a:rPr sz="1200"/>
              <a:t>Explainable evidence + constraints + periodic fairness checks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81728"/>
            <a:ext cx="306324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19" b="1">
                <a:solidFill>
                  <a:srgbClr val="14466E"/>
                </a:solidFill>
              </a:defRPr>
            </a:pPr>
            <a:r>
              <a:rPr sz="1200"/>
              <a:t>Privacy / misuse</a:t>
            </a:r>
          </a:p>
          <a:p>
            <a:pPr>
              <a:defRPr sz="800">
                <a:solidFill>
                  <a:srgbClr val="2D3741"/>
                </a:solidFill>
              </a:defRPr>
            </a:pPr>
            <a:endParaRPr sz="1200"/>
          </a:p>
        </p:txBody>
      </p:sp>
      <p:sp>
        <p:nvSpPr>
          <p:cNvPr id="24" name="Rounded Rectangle 23"/>
          <p:cNvSpPr/>
          <p:nvPr/>
        </p:nvSpPr>
        <p:spPr>
          <a:xfrm>
            <a:off x="3886200" y="4681728"/>
            <a:ext cx="7452360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19" b="1">
                <a:solidFill>
                  <a:srgbClr val="14466E"/>
                </a:solidFill>
              </a:defRPr>
            </a:pPr>
            <a:r>
              <a:rPr sz="1200"/>
              <a:t>MITIGATION</a:t>
            </a:r>
          </a:p>
          <a:p>
            <a:pPr>
              <a:defRPr sz="850">
                <a:solidFill>
                  <a:srgbClr val="2D3741"/>
                </a:solidFill>
              </a:defRPr>
            </a:pPr>
            <a:r>
              <a:rPr sz="1200"/>
              <a:t>Consent + retention limits + human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59552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32D37"/>
                </a:solidFill>
              </a:defRPr>
            </a:pPr>
            <a:r>
              <a:t>Pilot success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87044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4466E"/>
                </a:solidFill>
              </a:defRPr>
            </a:pPr>
            <a:r>
              <a:t>Match Quality  •  Acceptance  •  Skill-Gap Reduction  •  Project Completion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19088"/>
            <a:ext cx="31089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46E78"/>
                </a:solidFill>
              </a:defRPr>
            </a:pPr>
            <a:r>
              <a:t>SKILLBRIDGE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6419088"/>
            <a:ext cx="2560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</a:defRPr>
            </a:pPr>
            <a:r>
              <a:t>SIH 2026  •  4/6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47E2760-E5B3-F357-018E-9DBA5B69512A}"/>
              </a:ext>
            </a:extLst>
          </p:cNvPr>
          <p:cNvSpPr/>
          <p:nvPr/>
        </p:nvSpPr>
        <p:spPr>
          <a:xfrm>
            <a:off x="259978" y="206188"/>
            <a:ext cx="1479176" cy="6767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68CA2-8669-DAB7-8F6F-A82561BA91AD}"/>
              </a:ext>
            </a:extLst>
          </p:cNvPr>
          <p:cNvSpPr txBox="1"/>
          <p:nvPr/>
        </p:nvSpPr>
        <p:spPr>
          <a:xfrm>
            <a:off x="452719" y="390682"/>
            <a:ext cx="1093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NEXORA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452068"/>
            <a:ext cx="109728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14375A"/>
                </a:solidFill>
              </a:defRPr>
            </a:pPr>
            <a:r>
              <a:rPr dirty="0"/>
              <a:t>IMPACT AND BENEFITS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024128"/>
            <a:ext cx="2670048" cy="1170432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/>
              <a:t>STUDENTS</a:t>
            </a:r>
          </a:p>
          <a:p>
            <a:pPr>
              <a:defRPr sz="869">
                <a:solidFill>
                  <a:srgbClr val="2D3741"/>
                </a:solidFill>
              </a:defRPr>
            </a:pPr>
            <a:r>
              <a:rPr sz="1400"/>
              <a:t>Relevant opportunities + clear skill gaps + complementary teams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1024128"/>
            <a:ext cx="2670048" cy="1170432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 dirty="0"/>
              <a:t>COMPANIES</a:t>
            </a:r>
          </a:p>
          <a:p>
            <a:pPr>
              <a:defRPr sz="869">
                <a:solidFill>
                  <a:srgbClr val="2D3741"/>
                </a:solidFill>
              </a:defRPr>
            </a:pPr>
            <a:r>
              <a:rPr sz="1400" dirty="0"/>
              <a:t>Faster discovery of suitable, project-ready talent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1024128"/>
            <a:ext cx="2670048" cy="1170432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/>
              <a:t>FACULTY</a:t>
            </a:r>
          </a:p>
          <a:p>
            <a:pPr>
              <a:defRPr sz="869">
                <a:solidFill>
                  <a:srgbClr val="2D3741"/>
                </a:solidFill>
              </a:defRPr>
            </a:pPr>
            <a:r>
              <a:rPr sz="1400"/>
              <a:t>Mentoring aligned with real industry requirements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1024128"/>
            <a:ext cx="2670048" cy="1170432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/>
              <a:t>COLLEGES</a:t>
            </a:r>
          </a:p>
          <a:p>
            <a:pPr>
              <a:defRPr sz="869">
                <a:solidFill>
                  <a:srgbClr val="2D3741"/>
                </a:solidFill>
              </a:defRPr>
            </a:pPr>
            <a:r>
              <a:rPr sz="1400"/>
              <a:t>Collaboration visibility + demand and curriculum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450592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32D37"/>
                </a:solidFill>
              </a:defRPr>
            </a:pPr>
            <a:r>
              <a:rPr sz="1400"/>
              <a:t>Benefits and measurable outcomes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816352"/>
            <a:ext cx="3401568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/>
              <a:t>SOCIAL</a:t>
            </a:r>
          </a:p>
          <a:p>
            <a:pPr>
              <a:defRPr sz="869">
                <a:solidFill>
                  <a:srgbClr val="2D3741"/>
                </a:solidFill>
              </a:defRPr>
            </a:pPr>
            <a:r>
              <a:rPr sz="1400"/>
              <a:t>Stronger student–industry interaction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816352"/>
            <a:ext cx="3401568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/>
              <a:t>ECONOMIC</a:t>
            </a:r>
          </a:p>
          <a:p>
            <a:pPr>
              <a:defRPr sz="869">
                <a:solidFill>
                  <a:srgbClr val="2D3741"/>
                </a:solidFill>
              </a:defRPr>
            </a:pPr>
            <a:r>
              <a:rPr sz="1400"/>
              <a:t>Lower recruitment friction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816352"/>
            <a:ext cx="3401568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/>
              <a:t>INSTITUTIONAL</a:t>
            </a:r>
          </a:p>
          <a:p>
            <a:pPr>
              <a:defRPr sz="869">
                <a:solidFill>
                  <a:srgbClr val="2D3741"/>
                </a:solidFill>
              </a:defRPr>
            </a:pPr>
            <a:r>
              <a:rPr sz="1400"/>
              <a:t>Evidence for curriculum planning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86784"/>
            <a:ext cx="3401568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/>
              <a:t>MATCH QUALITY</a:t>
            </a:r>
          </a:p>
          <a:p>
            <a:pPr>
              <a:defRPr sz="869">
                <a:solidFill>
                  <a:srgbClr val="2D3741"/>
                </a:solidFill>
              </a:defRPr>
            </a:pPr>
            <a:r>
              <a:rPr sz="1400"/>
              <a:t>Precision@K / Recall@K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986784"/>
            <a:ext cx="3401568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/>
              <a:t>ENGAGEMENT</a:t>
            </a:r>
          </a:p>
          <a:p>
            <a:pPr>
              <a:defRPr sz="869">
                <a:solidFill>
                  <a:srgbClr val="2D3741"/>
                </a:solidFill>
              </a:defRPr>
            </a:pPr>
            <a:r>
              <a:rPr sz="1400"/>
              <a:t>Acceptance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3986784"/>
            <a:ext cx="3401568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/>
              <a:t>DELIVERY</a:t>
            </a:r>
          </a:p>
          <a:p>
            <a:pPr>
              <a:defRPr sz="869">
                <a:solidFill>
                  <a:srgbClr val="2D3741"/>
                </a:solidFill>
              </a:defRPr>
            </a:pPr>
            <a:r>
              <a:rPr sz="1400"/>
              <a:t>Completion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85232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D37"/>
                </a:solidFill>
              </a:defRPr>
            </a:pPr>
            <a:r>
              <a:t>Skill intelligence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634263"/>
            <a:ext cx="10972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4466E"/>
                </a:solidFill>
              </a:defRPr>
            </a:pPr>
            <a:r>
              <a:rPr sz="1400" dirty="0"/>
              <a:t>Common skill gaps  •  Industry feedback  •  Skill-gap reduction  •  Demand trends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31089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46E78"/>
                </a:solidFill>
              </a:defRPr>
            </a:pPr>
            <a:r>
              <a:t>SKILLBRIDGE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6419088"/>
            <a:ext cx="2560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</a:defRPr>
            </a:pPr>
            <a:r>
              <a:t>SIH 2026  •  5/6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3A65A16-86D6-C223-B8B8-FCC295211338}"/>
              </a:ext>
            </a:extLst>
          </p:cNvPr>
          <p:cNvSpPr/>
          <p:nvPr/>
        </p:nvSpPr>
        <p:spPr>
          <a:xfrm>
            <a:off x="251013" y="206188"/>
            <a:ext cx="1479176" cy="6767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85F0E4-5302-5B70-71E4-77BE05533BB2}"/>
              </a:ext>
            </a:extLst>
          </p:cNvPr>
          <p:cNvSpPr txBox="1"/>
          <p:nvPr/>
        </p:nvSpPr>
        <p:spPr>
          <a:xfrm>
            <a:off x="443754" y="408980"/>
            <a:ext cx="1093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NEXORA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452068"/>
            <a:ext cx="109728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14375A"/>
                </a:solidFill>
              </a:defRPr>
            </a:pPr>
            <a:r>
              <a:rPr dirty="0"/>
              <a:t>RESEARCH AND 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56432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32D37"/>
                </a:solidFill>
              </a:defRPr>
            </a:pPr>
            <a:r>
              <a:t>Prototype validation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22191"/>
            <a:ext cx="3401568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/>
              <a:t>DEMO 01</a:t>
            </a:r>
          </a:p>
          <a:p>
            <a:pPr>
              <a:defRPr sz="869">
                <a:solidFill>
                  <a:srgbClr val="2D3741"/>
                </a:solidFill>
              </a:defRPr>
            </a:pPr>
            <a:r>
              <a:rPr sz="1400"/>
              <a:t>Industry brief → extracted skills → ranked candidates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4528" y="3822191"/>
            <a:ext cx="3401568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/>
              <a:t>DEMO 02</a:t>
            </a:r>
          </a:p>
          <a:p>
            <a:pPr>
              <a:defRPr sz="869">
                <a:solidFill>
                  <a:srgbClr val="2D3741"/>
                </a:solidFill>
              </a:defRPr>
            </a:pPr>
            <a:r>
              <a:rPr sz="1400"/>
              <a:t>Complementary AI team formation → skill coverage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4696" y="3822191"/>
            <a:ext cx="3401568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sz="1400" dirty="0"/>
              <a:t>DEMO 03</a:t>
            </a:r>
          </a:p>
          <a:p>
            <a:pPr>
              <a:defRPr sz="869">
                <a:solidFill>
                  <a:srgbClr val="2D3741"/>
                </a:solidFill>
              </a:defRPr>
            </a:pPr>
            <a:r>
              <a:rPr sz="1400" dirty="0"/>
              <a:t>Gap action → evaluation → updated skill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230368"/>
            <a:ext cx="10972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32D37"/>
                </a:solidFill>
              </a:defRPr>
            </a:pPr>
            <a:r>
              <a:t>Novelty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611403"/>
            <a:ext cx="10972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4466E"/>
                </a:solidFill>
              </a:defRPr>
            </a:pPr>
            <a:r>
              <a:rPr sz="1400"/>
              <a:t>Industry Demand → AI Matching → Project/Internship → Evaluation → Updated Skill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31089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46E78"/>
                </a:solidFill>
              </a:defRPr>
            </a:pPr>
            <a:r>
              <a:t>SKILLBRIDGE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6419088"/>
            <a:ext cx="2560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</a:defRPr>
            </a:pPr>
            <a:r>
              <a:t>SIH 2026  •  6/6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E59408B-D536-C029-6281-5BDFC65BB4F9}"/>
              </a:ext>
            </a:extLst>
          </p:cNvPr>
          <p:cNvSpPr/>
          <p:nvPr/>
        </p:nvSpPr>
        <p:spPr>
          <a:xfrm>
            <a:off x="251013" y="206188"/>
            <a:ext cx="1479176" cy="6767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F9EB5-46B6-5CAC-1244-711E8E398A87}"/>
              </a:ext>
            </a:extLst>
          </p:cNvPr>
          <p:cNvSpPr txBox="1"/>
          <p:nvPr/>
        </p:nvSpPr>
        <p:spPr>
          <a:xfrm>
            <a:off x="443754" y="407015"/>
            <a:ext cx="1093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NEXORA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9EA28A40-55B9-753B-F02F-CA44949F0D0E}"/>
              </a:ext>
            </a:extLst>
          </p:cNvPr>
          <p:cNvSpPr/>
          <p:nvPr/>
        </p:nvSpPr>
        <p:spPr>
          <a:xfrm>
            <a:off x="3239576" y="1100507"/>
            <a:ext cx="5371472" cy="2364171"/>
          </a:xfrm>
          <a:prstGeom prst="roundRect">
            <a:avLst/>
          </a:prstGeom>
          <a:solidFill>
            <a:srgbClr val="F8FAFC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lang="en-IN" sz="1500" dirty="0"/>
              <a:t>[01] Smart India Hackathon 2026 — Official Portal</a:t>
            </a:r>
          </a:p>
          <a:p>
            <a:pPr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lang="en-IN" sz="1500" dirty="0"/>
              <a:t>[02] European Commission — ESCO Classification</a:t>
            </a:r>
          </a:p>
          <a:p>
            <a:pPr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lang="en-IN" sz="1500" dirty="0"/>
              <a:t>[03] W3C — Web Content Accessibility Guidelines (WCAG) 2.2</a:t>
            </a:r>
          </a:p>
          <a:p>
            <a:pPr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lang="en-IN" sz="1500" dirty="0"/>
              <a:t>[04] NIST — Artificial Intelligence Risk Management Framework</a:t>
            </a:r>
          </a:p>
          <a:p>
            <a:pPr>
              <a:spcAft>
                <a:spcPts val="300"/>
              </a:spcAft>
              <a:defRPr sz="1050" b="1">
                <a:solidFill>
                  <a:srgbClr val="14466E"/>
                </a:solidFill>
              </a:defRPr>
            </a:pPr>
            <a:r>
              <a:rPr lang="en-IN" sz="1500" dirty="0"/>
              <a:t>[05] ISO — ISO 30401:2018 Knowledge Management Systems</a:t>
            </a: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05A02-6E36-7E79-7B23-2973FA03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2530983"/>
            <a:ext cx="10972800" cy="1143000"/>
          </a:xfrm>
        </p:spPr>
        <p:txBody>
          <a:bodyPr/>
          <a:lstStyle/>
          <a:p>
            <a:r>
              <a:rPr lang="en-IN" sz="6000" dirty="0">
                <a:latin typeface="Georgia" panose="02040502050405020303" pitchFamily="18" charset="0"/>
              </a:rPr>
              <a:t>THANK YOU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FB6DB-B340-ADD0-FFC1-6A4B98F10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98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7525</TotalTime>
  <Words>653</Words>
  <Application>Microsoft Office PowerPoint</Application>
  <PresentationFormat>Widescreen</PresentationFormat>
  <Paragraphs>134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Georgia</vt:lpstr>
      <vt:lpstr>Times New Roman</vt:lpstr>
      <vt:lpstr>TradeGothic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SUBASHREEKA DS</cp:lastModifiedBy>
  <cp:revision>151</cp:revision>
  <dcterms:created xsi:type="dcterms:W3CDTF">2013-12-12T18:46:50Z</dcterms:created>
  <dcterms:modified xsi:type="dcterms:W3CDTF">2026-09-02T17:22:13Z</dcterms:modified>
  <cp:category/>
</cp:coreProperties>
</file>