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eorgia Bold" charset="1" panose="02040802050405020203"/>
      <p:regular r:id="rId12"/>
    </p:embeddedFont>
    <p:embeddedFont>
      <p:font typeface="Aptos" charset="1" panose="020B0004020202020204"/>
      <p:regular r:id="rId13"/>
    </p:embeddedFont>
    <p:embeddedFont>
      <p:font typeface="Arimo" charset="1" panose="020B0604020202020204"/>
      <p:regular r:id="rId17"/>
    </p:embeddedFont>
    <p:embeddedFont>
      <p:font typeface="Aptos Bold" charset="1" panose="020B0004020202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5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5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5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5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5.jpeg" Type="http://schemas.openxmlformats.org/officeDocument/2006/relationships/image"/><Relationship Id="rId4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165" y="127728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2333" y="2573817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959969" y="1009117"/>
            <a:ext cx="12618720" cy="2546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80"/>
              </a:lnSpc>
            </a:pPr>
            <a:r>
              <a:rPr lang="en-US" sz="4650" b="true">
                <a:solidFill>
                  <a:srgbClr val="183048"/>
                </a:solidFill>
                <a:latin typeface="Georgia Bold"/>
                <a:ea typeface="Georgia Bold"/>
                <a:cs typeface="Georgia Bold"/>
                <a:sym typeface="Georgia Bold"/>
              </a:rPr>
              <a:t>CAPACITY CONNECT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88369" y="-753942"/>
            <a:ext cx="15361920" cy="3032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4050" b="true">
                <a:solidFill>
                  <a:srgbClr val="0070C0"/>
                </a:solidFill>
                <a:latin typeface="Georgia Bold"/>
                <a:ea typeface="Georgia Bold"/>
                <a:cs typeface="Georgia Bold"/>
                <a:sym typeface="Georgia Bold"/>
              </a:rPr>
              <a:t>SMART INDIA HACKATHON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88369" y="3160395"/>
            <a:ext cx="8703945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rPr>
              <a:t>Problem Statement ID – SIH26075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rPr>
              <a:t>Problem Statement Title – CAPACITY CONNECT: A Digital Capacity Building and Learning Management Portal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rPr>
              <a:t>Theme – Smart Education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rPr>
              <a:t>PS Category – Software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rPr>
              <a:t>Sponsor – Ministry of Earth Sciences (MoES)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rPr>
              <a:t>Team ID –SIH26-A0H-T502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rPr>
              <a:t>Team Name – NEXORA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365941" y="36195"/>
            <a:ext cx="16276320" cy="1632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750" b="true">
                <a:solidFill>
                  <a:srgbClr val="183048"/>
                </a:solidFill>
                <a:latin typeface="Georgia Bold"/>
                <a:ea typeface="Georgia Bold"/>
                <a:cs typeface="Georgia Bold"/>
                <a:sym typeface="Georgia Bold"/>
              </a:rPr>
              <a:t>CAPACITY CONNECT — THE IDEA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mo"/>
                  <a:ea typeface="Arimo"/>
                  <a:cs typeface="Arimo"/>
                  <a:sym typeface="Arimo"/>
                </a:rPr>
                <a:t>SIH 2026 • IDEA SUBMISSION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2" id="12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554516" cy="1665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YOUR TEAM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NAME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37260" y="2075688"/>
            <a:ext cx="16367760" cy="52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0070C0"/>
                </a:solidFill>
                <a:latin typeface="Aptos Bold"/>
                <a:ea typeface="Aptos Bold"/>
                <a:cs typeface="Aptos Bold"/>
                <a:sym typeface="Aptos Bold"/>
              </a:rPr>
              <a:t>THE CORE IDEA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79157" y="2662238"/>
            <a:ext cx="7637145" cy="5236845"/>
            <a:chOff x="0" y="0"/>
            <a:chExt cx="10182860" cy="69824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182860" cy="6982460"/>
            </a:xfrm>
            <a:custGeom>
              <a:avLst/>
              <a:gdLst/>
              <a:ahLst/>
              <a:cxnLst/>
              <a:rect r="r" b="b" t="t" l="l"/>
              <a:pathLst>
                <a:path h="6982460" w="10182860">
                  <a:moveTo>
                    <a:pt x="0" y="1163828"/>
                  </a:moveTo>
                  <a:cubicBezTo>
                    <a:pt x="0" y="521081"/>
                    <a:pt x="521081" y="0"/>
                    <a:pt x="1163828" y="0"/>
                  </a:cubicBezTo>
                  <a:lnTo>
                    <a:pt x="9019032" y="0"/>
                  </a:lnTo>
                  <a:cubicBezTo>
                    <a:pt x="9661778" y="0"/>
                    <a:pt x="10182860" y="521081"/>
                    <a:pt x="10182860" y="1163828"/>
                  </a:cubicBezTo>
                  <a:lnTo>
                    <a:pt x="10182860" y="5818632"/>
                  </a:lnTo>
                  <a:cubicBezTo>
                    <a:pt x="10182860" y="6461379"/>
                    <a:pt x="9661778" y="6982460"/>
                    <a:pt x="9019032" y="6982460"/>
                  </a:cubicBezTo>
                  <a:lnTo>
                    <a:pt x="1163828" y="6982460"/>
                  </a:lnTo>
                  <a:cubicBezTo>
                    <a:pt x="521081" y="6982460"/>
                    <a:pt x="0" y="6461379"/>
                    <a:pt x="0" y="5818632"/>
                  </a:cubicBezTo>
                  <a:close/>
                </a:path>
              </a:pathLst>
            </a:custGeom>
            <a:solidFill>
              <a:srgbClr val="E8F2FA"/>
            </a:solidFill>
            <a:ln w="24765" cap="sq">
              <a:solidFill>
                <a:srgbClr val="0074BE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0182860" cy="698246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8304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 “CAPABILITY MAP” FOR ORGANIZATIONAL LEARNING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Create a living map connecting roles → competencies → people → learning assets → work evidence.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Start with the competency baseline for a role or team and identify priority gaps.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Generate a focused learning journey using existing courses, short practice tasks and expert knowledge.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Update competency evidence after assessment, practice and mentor validation.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834438" y="2662238"/>
            <a:ext cx="8528685" cy="5236845"/>
            <a:chOff x="0" y="0"/>
            <a:chExt cx="11371580" cy="69824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371580" cy="6982460"/>
            </a:xfrm>
            <a:custGeom>
              <a:avLst/>
              <a:gdLst/>
              <a:ahLst/>
              <a:cxnLst/>
              <a:rect r="r" b="b" t="t" l="l"/>
              <a:pathLst>
                <a:path h="6982460" w="11371580">
                  <a:moveTo>
                    <a:pt x="0" y="1163828"/>
                  </a:moveTo>
                  <a:cubicBezTo>
                    <a:pt x="0" y="521081"/>
                    <a:pt x="521081" y="0"/>
                    <a:pt x="1163828" y="0"/>
                  </a:cubicBezTo>
                  <a:lnTo>
                    <a:pt x="10207752" y="0"/>
                  </a:lnTo>
                  <a:cubicBezTo>
                    <a:pt x="10850499" y="0"/>
                    <a:pt x="11371580" y="521081"/>
                    <a:pt x="11371580" y="1163828"/>
                  </a:cubicBezTo>
                  <a:lnTo>
                    <a:pt x="11371580" y="5818632"/>
                  </a:lnTo>
                  <a:cubicBezTo>
                    <a:pt x="11371580" y="6461379"/>
                    <a:pt x="10850499" y="6982460"/>
                    <a:pt x="10207752" y="6982460"/>
                  </a:cubicBezTo>
                  <a:lnTo>
                    <a:pt x="1163828" y="6982460"/>
                  </a:lnTo>
                  <a:cubicBezTo>
                    <a:pt x="521081" y="6982460"/>
                    <a:pt x="0" y="6461379"/>
                    <a:pt x="0" y="5818632"/>
                  </a:cubicBezTo>
                  <a:close/>
                </a:path>
              </a:pathLst>
            </a:custGeom>
            <a:solidFill>
              <a:srgbClr val="F3EEF9"/>
            </a:solidFill>
            <a:ln w="24765" cap="sq">
              <a:solidFill>
                <a:srgbClr val="7653A5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1371580" cy="698246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8304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THE DIFFERENTIATOR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Skill Sprints — short, role-specific practice tasks produce evidence of application.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Knowledge Capsules — reusable expert tips, SOP extracts, lessons learned and project notes with owner/version.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Capability Heatmap — managers can see critical competency gaps without reading individual records.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Explainable recommendations — every learning suggestion states the competency gap it addresses.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280160" y="8206740"/>
            <a:ext cx="1581912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2175" b="true">
                <a:solidFill>
                  <a:srgbClr val="183048"/>
                </a:solidFill>
                <a:latin typeface="Aptos Bold"/>
                <a:ea typeface="Aptos Bold"/>
                <a:cs typeface="Aptos Bold"/>
                <a:sym typeface="Aptos Bold"/>
              </a:rPr>
              <a:t>PROPOSED OUTCOME  •  Move from “course completed” to “capability demonstrated and reusable knowledge captured”.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05840" y="-35243"/>
            <a:ext cx="16276320" cy="1632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750" b="true">
                <a:solidFill>
                  <a:srgbClr val="183048"/>
                </a:solidFill>
                <a:latin typeface="Georgia Bold"/>
                <a:ea typeface="Georgia Bold"/>
                <a:cs typeface="Georgia Bold"/>
                <a:sym typeface="Georgia Bold"/>
              </a:rPr>
              <a:t>TECHNICAL APPROACH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mo"/>
                  <a:ea typeface="Arimo"/>
                  <a:cs typeface="Arimo"/>
                  <a:sym typeface="Arimo"/>
                </a:rPr>
                <a:t>SIH 2026 • IDEA SUBMISSION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2" id="12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554516" cy="1665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YOUR TEAM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NAME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37260" y="1938528"/>
            <a:ext cx="1636776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0070C0"/>
                </a:solidFill>
                <a:latin typeface="Aptos Bold"/>
                <a:ea typeface="Aptos Bold"/>
                <a:cs typeface="Aptos Bold"/>
                <a:sym typeface="Aptos Bold"/>
              </a:rPr>
              <a:t>PROPOSED STACK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7260" y="2414397"/>
            <a:ext cx="16367760" cy="58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5"/>
              </a:lnSpc>
            </a:pPr>
            <a:r>
              <a:rPr lang="en-US" sz="1829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rPr>
              <a:t>React / PWA  •  FastAPI  •  PostgreSQL  •  REST APIs  •  Competency / skill graph  •  Search / NLP  •  RBAC  •  Audit logs  •  Cloud or controlled on-prem deployment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7260" y="3268980"/>
            <a:ext cx="1636776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0070C0"/>
                </a:solidFill>
                <a:latin typeface="Aptos Bold"/>
                <a:ea typeface="Aptos Bold"/>
                <a:cs typeface="Aptos Bold"/>
                <a:sym typeface="Aptos Bold"/>
              </a:rPr>
              <a:t>THE “ROLE → LEARN → PROVE → SHARE” LOOP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47236" y="4039076"/>
            <a:ext cx="864680" cy="864680"/>
            <a:chOff x="0" y="0"/>
            <a:chExt cx="1152906" cy="115290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52906" cy="1152906"/>
            </a:xfrm>
            <a:custGeom>
              <a:avLst/>
              <a:gdLst/>
              <a:ahLst/>
              <a:cxnLst/>
              <a:rect r="r" b="b" t="t" l="l"/>
              <a:pathLst>
                <a:path h="1152906" w="1152906">
                  <a:moveTo>
                    <a:pt x="0" y="576453"/>
                  </a:moveTo>
                  <a:cubicBezTo>
                    <a:pt x="0" y="258064"/>
                    <a:pt x="258064" y="0"/>
                    <a:pt x="576453" y="0"/>
                  </a:cubicBezTo>
                  <a:cubicBezTo>
                    <a:pt x="894842" y="0"/>
                    <a:pt x="1152906" y="258064"/>
                    <a:pt x="1152906" y="576453"/>
                  </a:cubicBezTo>
                  <a:cubicBezTo>
                    <a:pt x="1152906" y="894842"/>
                    <a:pt x="894842" y="1152906"/>
                    <a:pt x="576453" y="1152906"/>
                  </a:cubicBezTo>
                  <a:cubicBezTo>
                    <a:pt x="258064" y="1152906"/>
                    <a:pt x="0" y="894842"/>
                    <a:pt x="0" y="576453"/>
                  </a:cubicBezTo>
                  <a:close/>
                </a:path>
              </a:pathLst>
            </a:custGeom>
            <a:solidFill>
              <a:srgbClr val="0074BE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152906" cy="11529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457200" y="5024628"/>
            <a:ext cx="148590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183048"/>
                </a:solidFill>
                <a:latin typeface="Aptos Bold"/>
                <a:ea typeface="Aptos Bold"/>
                <a:cs typeface="Aptos Bold"/>
                <a:sym typeface="Aptos Bold"/>
              </a:rPr>
              <a:t>ROLE</a:t>
            </a:r>
          </a:p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183048"/>
                </a:solidFill>
                <a:latin typeface="Aptos"/>
                <a:ea typeface="Aptos"/>
                <a:cs typeface="Aptos"/>
                <a:sym typeface="Aptos"/>
              </a:rPr>
              <a:t>BASELINE</a:t>
            </a:r>
          </a:p>
        </p:txBody>
      </p:sp>
      <p:sp>
        <p:nvSpPr>
          <p:cNvPr name="AutoShape 23" id="23"/>
          <p:cNvSpPr/>
          <p:nvPr/>
        </p:nvSpPr>
        <p:spPr>
          <a:xfrm rot="48960">
            <a:off x="1628651" y="4448175"/>
            <a:ext cx="2407396" cy="0"/>
          </a:xfrm>
          <a:prstGeom prst="line">
            <a:avLst/>
          </a:prstGeom>
          <a:ln cap="rnd" w="19050">
            <a:solidFill>
              <a:srgbClr val="0074B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4176236" y="4039076"/>
            <a:ext cx="864680" cy="864680"/>
            <a:chOff x="0" y="0"/>
            <a:chExt cx="1152906" cy="115290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52906" cy="1152906"/>
            </a:xfrm>
            <a:custGeom>
              <a:avLst/>
              <a:gdLst/>
              <a:ahLst/>
              <a:cxnLst/>
              <a:rect r="r" b="b" t="t" l="l"/>
              <a:pathLst>
                <a:path h="1152906" w="1152906">
                  <a:moveTo>
                    <a:pt x="0" y="576453"/>
                  </a:moveTo>
                  <a:cubicBezTo>
                    <a:pt x="0" y="258064"/>
                    <a:pt x="258064" y="0"/>
                    <a:pt x="576453" y="0"/>
                  </a:cubicBezTo>
                  <a:cubicBezTo>
                    <a:pt x="894842" y="0"/>
                    <a:pt x="1152906" y="258064"/>
                    <a:pt x="1152906" y="576453"/>
                  </a:cubicBezTo>
                  <a:cubicBezTo>
                    <a:pt x="1152906" y="894842"/>
                    <a:pt x="894842" y="1152906"/>
                    <a:pt x="576453" y="1152906"/>
                  </a:cubicBezTo>
                  <a:cubicBezTo>
                    <a:pt x="258064" y="1152906"/>
                    <a:pt x="0" y="894842"/>
                    <a:pt x="0" y="576453"/>
                  </a:cubicBezTo>
                  <a:close/>
                </a:path>
              </a:pathLst>
            </a:custGeom>
            <a:solidFill>
              <a:srgbClr val="7653A5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152906" cy="11529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3886200" y="5024628"/>
            <a:ext cx="148590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183048"/>
                </a:solidFill>
                <a:latin typeface="Aptos Bold"/>
                <a:ea typeface="Aptos Bold"/>
                <a:cs typeface="Aptos Bold"/>
                <a:sym typeface="Aptos Bold"/>
              </a:rPr>
              <a:t>GAP</a:t>
            </a:r>
          </a:p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183048"/>
                </a:solidFill>
                <a:latin typeface="Aptos"/>
                <a:ea typeface="Aptos"/>
                <a:cs typeface="Aptos"/>
                <a:sym typeface="Aptos"/>
              </a:rPr>
              <a:t>DIAGNOSIS</a:t>
            </a:r>
          </a:p>
        </p:txBody>
      </p:sp>
      <p:sp>
        <p:nvSpPr>
          <p:cNvPr name="AutoShape 28" id="28"/>
          <p:cNvSpPr/>
          <p:nvPr/>
        </p:nvSpPr>
        <p:spPr>
          <a:xfrm rot="48960">
            <a:off x="5057651" y="4448175"/>
            <a:ext cx="2407406" cy="0"/>
          </a:xfrm>
          <a:prstGeom prst="line">
            <a:avLst/>
          </a:prstGeom>
          <a:ln cap="rnd" w="19050">
            <a:solidFill>
              <a:srgbClr val="0074B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7605236" y="4039076"/>
            <a:ext cx="864680" cy="864680"/>
            <a:chOff x="0" y="0"/>
            <a:chExt cx="1152906" cy="115290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52906" cy="1152906"/>
            </a:xfrm>
            <a:custGeom>
              <a:avLst/>
              <a:gdLst/>
              <a:ahLst/>
              <a:cxnLst/>
              <a:rect r="r" b="b" t="t" l="l"/>
              <a:pathLst>
                <a:path h="1152906" w="1152906">
                  <a:moveTo>
                    <a:pt x="0" y="576453"/>
                  </a:moveTo>
                  <a:cubicBezTo>
                    <a:pt x="0" y="258064"/>
                    <a:pt x="258064" y="0"/>
                    <a:pt x="576453" y="0"/>
                  </a:cubicBezTo>
                  <a:cubicBezTo>
                    <a:pt x="894842" y="0"/>
                    <a:pt x="1152906" y="258064"/>
                    <a:pt x="1152906" y="576453"/>
                  </a:cubicBezTo>
                  <a:cubicBezTo>
                    <a:pt x="1152906" y="894842"/>
                    <a:pt x="894842" y="1152906"/>
                    <a:pt x="576453" y="1152906"/>
                  </a:cubicBezTo>
                  <a:cubicBezTo>
                    <a:pt x="258064" y="1152906"/>
                    <a:pt x="0" y="894842"/>
                    <a:pt x="0" y="576453"/>
                  </a:cubicBezTo>
                  <a:close/>
                </a:path>
              </a:pathLst>
            </a:custGeom>
            <a:solidFill>
              <a:srgbClr val="E8842D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152906" cy="11529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7315200" y="5024628"/>
            <a:ext cx="148590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183048"/>
                </a:solidFill>
                <a:latin typeface="Aptos Bold"/>
                <a:ea typeface="Aptos Bold"/>
                <a:cs typeface="Aptos Bold"/>
                <a:sym typeface="Aptos Bold"/>
              </a:rPr>
              <a:t>ADAPTIVE</a:t>
            </a:r>
          </a:p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183048"/>
                </a:solidFill>
                <a:latin typeface="Aptos"/>
                <a:ea typeface="Aptos"/>
                <a:cs typeface="Aptos"/>
                <a:sym typeface="Aptos"/>
              </a:rPr>
              <a:t>LEARNING</a:t>
            </a:r>
          </a:p>
        </p:txBody>
      </p:sp>
      <p:sp>
        <p:nvSpPr>
          <p:cNvPr name="AutoShape 33" id="33"/>
          <p:cNvSpPr/>
          <p:nvPr/>
        </p:nvSpPr>
        <p:spPr>
          <a:xfrm rot="48960">
            <a:off x="8486651" y="4448175"/>
            <a:ext cx="2407406" cy="0"/>
          </a:xfrm>
          <a:prstGeom prst="line">
            <a:avLst/>
          </a:prstGeom>
          <a:ln cap="rnd" w="19050">
            <a:solidFill>
              <a:srgbClr val="0074B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11034236" y="4039076"/>
            <a:ext cx="864680" cy="864680"/>
            <a:chOff x="0" y="0"/>
            <a:chExt cx="1152906" cy="115290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52906" cy="1152906"/>
            </a:xfrm>
            <a:custGeom>
              <a:avLst/>
              <a:gdLst/>
              <a:ahLst/>
              <a:cxnLst/>
              <a:rect r="r" b="b" t="t" l="l"/>
              <a:pathLst>
                <a:path h="1152906" w="1152906">
                  <a:moveTo>
                    <a:pt x="0" y="576453"/>
                  </a:moveTo>
                  <a:cubicBezTo>
                    <a:pt x="0" y="258064"/>
                    <a:pt x="258064" y="0"/>
                    <a:pt x="576453" y="0"/>
                  </a:cubicBezTo>
                  <a:cubicBezTo>
                    <a:pt x="894842" y="0"/>
                    <a:pt x="1152906" y="258064"/>
                    <a:pt x="1152906" y="576453"/>
                  </a:cubicBezTo>
                  <a:cubicBezTo>
                    <a:pt x="1152906" y="894842"/>
                    <a:pt x="894842" y="1152906"/>
                    <a:pt x="576453" y="1152906"/>
                  </a:cubicBezTo>
                  <a:cubicBezTo>
                    <a:pt x="258064" y="1152906"/>
                    <a:pt x="0" y="894842"/>
                    <a:pt x="0" y="576453"/>
                  </a:cubicBezTo>
                  <a:close/>
                </a:path>
              </a:pathLst>
            </a:custGeom>
            <a:solidFill>
              <a:srgbClr val="1B7D7D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1152906" cy="11529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0744200" y="5024628"/>
            <a:ext cx="148590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183048"/>
                </a:solidFill>
                <a:latin typeface="Aptos Bold"/>
                <a:ea typeface="Aptos Bold"/>
                <a:cs typeface="Aptos Bold"/>
                <a:sym typeface="Aptos Bold"/>
              </a:rPr>
              <a:t>PRACTICE +</a:t>
            </a:r>
          </a:p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183048"/>
                </a:solidFill>
                <a:latin typeface="Aptos"/>
                <a:ea typeface="Aptos"/>
                <a:cs typeface="Aptos"/>
                <a:sym typeface="Aptos"/>
              </a:rPr>
              <a:t>EVIDENCE</a:t>
            </a:r>
          </a:p>
        </p:txBody>
      </p:sp>
      <p:sp>
        <p:nvSpPr>
          <p:cNvPr name="AutoShape 38" id="38"/>
          <p:cNvSpPr/>
          <p:nvPr/>
        </p:nvSpPr>
        <p:spPr>
          <a:xfrm rot="48960">
            <a:off x="11915651" y="4448175"/>
            <a:ext cx="2407406" cy="0"/>
          </a:xfrm>
          <a:prstGeom prst="line">
            <a:avLst/>
          </a:prstGeom>
          <a:ln cap="rnd" w="19050">
            <a:solidFill>
              <a:srgbClr val="0074B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9" id="39"/>
          <p:cNvGrpSpPr/>
          <p:nvPr/>
        </p:nvGrpSpPr>
        <p:grpSpPr>
          <a:xfrm rot="0">
            <a:off x="14463236" y="4039076"/>
            <a:ext cx="864680" cy="864680"/>
            <a:chOff x="0" y="0"/>
            <a:chExt cx="1152906" cy="115290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52906" cy="1152906"/>
            </a:xfrm>
            <a:custGeom>
              <a:avLst/>
              <a:gdLst/>
              <a:ahLst/>
              <a:cxnLst/>
              <a:rect r="r" b="b" t="t" l="l"/>
              <a:pathLst>
                <a:path h="1152906" w="1152906">
                  <a:moveTo>
                    <a:pt x="0" y="576453"/>
                  </a:moveTo>
                  <a:cubicBezTo>
                    <a:pt x="0" y="258064"/>
                    <a:pt x="258064" y="0"/>
                    <a:pt x="576453" y="0"/>
                  </a:cubicBezTo>
                  <a:cubicBezTo>
                    <a:pt x="894842" y="0"/>
                    <a:pt x="1152906" y="258064"/>
                    <a:pt x="1152906" y="576453"/>
                  </a:cubicBezTo>
                  <a:cubicBezTo>
                    <a:pt x="1152906" y="894842"/>
                    <a:pt x="894842" y="1152906"/>
                    <a:pt x="576453" y="1152906"/>
                  </a:cubicBezTo>
                  <a:cubicBezTo>
                    <a:pt x="258064" y="1152906"/>
                    <a:pt x="0" y="894842"/>
                    <a:pt x="0" y="576453"/>
                  </a:cubicBezTo>
                  <a:close/>
                </a:path>
              </a:pathLst>
            </a:custGeom>
            <a:solidFill>
              <a:srgbClr val="418756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1152906" cy="11529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4173200" y="5024628"/>
            <a:ext cx="148590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183048"/>
                </a:solidFill>
                <a:latin typeface="Aptos Bold"/>
                <a:ea typeface="Aptos Bold"/>
                <a:cs typeface="Aptos Bold"/>
                <a:sym typeface="Aptos Bold"/>
              </a:rPr>
              <a:t>COMPETENCY</a:t>
            </a:r>
          </a:p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183048"/>
                </a:solidFill>
                <a:latin typeface="Aptos"/>
                <a:ea typeface="Aptos"/>
                <a:cs typeface="Aptos"/>
                <a:sym typeface="Aptos"/>
              </a:rPr>
              <a:t>UPDATE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084898" y="5954078"/>
            <a:ext cx="5099685" cy="2287905"/>
            <a:chOff x="0" y="0"/>
            <a:chExt cx="6799580" cy="30505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799580" cy="3050540"/>
            </a:xfrm>
            <a:custGeom>
              <a:avLst/>
              <a:gdLst/>
              <a:ahLst/>
              <a:cxnLst/>
              <a:rect r="r" b="b" t="t" l="l"/>
              <a:pathLst>
                <a:path h="3050540" w="6799580">
                  <a:moveTo>
                    <a:pt x="0" y="508381"/>
                  </a:moveTo>
                  <a:cubicBezTo>
                    <a:pt x="0" y="227584"/>
                    <a:pt x="227584" y="0"/>
                    <a:pt x="508381" y="0"/>
                  </a:cubicBezTo>
                  <a:lnTo>
                    <a:pt x="6291199" y="0"/>
                  </a:lnTo>
                  <a:cubicBezTo>
                    <a:pt x="6571996" y="0"/>
                    <a:pt x="6799580" y="227584"/>
                    <a:pt x="6799580" y="508381"/>
                  </a:cubicBezTo>
                  <a:lnTo>
                    <a:pt x="6799580" y="2542159"/>
                  </a:lnTo>
                  <a:cubicBezTo>
                    <a:pt x="6799580" y="2822956"/>
                    <a:pt x="6571996" y="3050540"/>
                    <a:pt x="6291199" y="3050540"/>
                  </a:cubicBezTo>
                  <a:lnTo>
                    <a:pt x="508381" y="3050540"/>
                  </a:lnTo>
                  <a:cubicBezTo>
                    <a:pt x="227584" y="3050540"/>
                    <a:pt x="0" y="2822956"/>
                    <a:pt x="0" y="2542159"/>
                  </a:cubicBezTo>
                  <a:close/>
                </a:path>
              </a:pathLst>
            </a:custGeom>
            <a:solidFill>
              <a:srgbClr val="E8F2FA"/>
            </a:solidFill>
            <a:ln w="24765" cap="sq">
              <a:solidFill>
                <a:srgbClr val="0074BE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6799580" cy="306006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8304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CONTENT + DATA</a:t>
              </a:r>
            </a:p>
            <a:p>
              <a:pPr algn="l">
                <a:lnSpc>
                  <a:spcPts val="2052"/>
                </a:lnSpc>
              </a:pPr>
              <a:r>
                <a:rPr lang="en-US" sz="171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Role profiles • competency framework • learning assets</a:t>
              </a:r>
            </a:p>
            <a:p>
              <a:pPr algn="l">
                <a:lnSpc>
                  <a:spcPts val="2052"/>
                </a:lnSpc>
              </a:pPr>
              <a:r>
                <a:rPr lang="en-US" sz="171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Assessments • work evidence • mentor feedback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571297" y="5954078"/>
            <a:ext cx="5099685" cy="2287905"/>
            <a:chOff x="0" y="0"/>
            <a:chExt cx="6799580" cy="30505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799580" cy="3050540"/>
            </a:xfrm>
            <a:custGeom>
              <a:avLst/>
              <a:gdLst/>
              <a:ahLst/>
              <a:cxnLst/>
              <a:rect r="r" b="b" t="t" l="l"/>
              <a:pathLst>
                <a:path h="3050540" w="6799580">
                  <a:moveTo>
                    <a:pt x="0" y="508381"/>
                  </a:moveTo>
                  <a:cubicBezTo>
                    <a:pt x="0" y="227584"/>
                    <a:pt x="227584" y="0"/>
                    <a:pt x="508381" y="0"/>
                  </a:cubicBezTo>
                  <a:lnTo>
                    <a:pt x="6291199" y="0"/>
                  </a:lnTo>
                  <a:cubicBezTo>
                    <a:pt x="6571996" y="0"/>
                    <a:pt x="6799580" y="227584"/>
                    <a:pt x="6799580" y="508381"/>
                  </a:cubicBezTo>
                  <a:lnTo>
                    <a:pt x="6799580" y="2542159"/>
                  </a:lnTo>
                  <a:cubicBezTo>
                    <a:pt x="6799580" y="2822956"/>
                    <a:pt x="6571996" y="3050540"/>
                    <a:pt x="6291199" y="3050540"/>
                  </a:cubicBezTo>
                  <a:lnTo>
                    <a:pt x="508381" y="3050540"/>
                  </a:lnTo>
                  <a:cubicBezTo>
                    <a:pt x="227584" y="3050540"/>
                    <a:pt x="0" y="2822956"/>
                    <a:pt x="0" y="2542159"/>
                  </a:cubicBezTo>
                  <a:close/>
                </a:path>
              </a:pathLst>
            </a:custGeom>
            <a:solidFill>
              <a:srgbClr val="F3EEF9"/>
            </a:solidFill>
            <a:ln w="24765" cap="sq">
              <a:solidFill>
                <a:srgbClr val="7653A5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6799580" cy="306006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8304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INTELLIGENCE</a:t>
              </a:r>
            </a:p>
            <a:p>
              <a:pPr algn="l">
                <a:lnSpc>
                  <a:spcPts val="2052"/>
                </a:lnSpc>
              </a:pPr>
              <a:r>
                <a:rPr lang="en-US" sz="171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Skill/competency taxonomy • semantic tagging • gap scoring</a:t>
              </a:r>
            </a:p>
            <a:p>
              <a:pPr algn="l">
                <a:lnSpc>
                  <a:spcPts val="2052"/>
                </a:lnSpc>
              </a:pPr>
              <a:r>
                <a:rPr lang="en-US" sz="171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Recommendation engine with human review for sensitive decisions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057698" y="5954078"/>
            <a:ext cx="5099685" cy="2287905"/>
            <a:chOff x="0" y="0"/>
            <a:chExt cx="6799580" cy="30505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799580" cy="3050540"/>
            </a:xfrm>
            <a:custGeom>
              <a:avLst/>
              <a:gdLst/>
              <a:ahLst/>
              <a:cxnLst/>
              <a:rect r="r" b="b" t="t" l="l"/>
              <a:pathLst>
                <a:path h="3050540" w="6799580">
                  <a:moveTo>
                    <a:pt x="0" y="508381"/>
                  </a:moveTo>
                  <a:cubicBezTo>
                    <a:pt x="0" y="227584"/>
                    <a:pt x="227584" y="0"/>
                    <a:pt x="508381" y="0"/>
                  </a:cubicBezTo>
                  <a:lnTo>
                    <a:pt x="6291199" y="0"/>
                  </a:lnTo>
                  <a:cubicBezTo>
                    <a:pt x="6571996" y="0"/>
                    <a:pt x="6799580" y="227584"/>
                    <a:pt x="6799580" y="508381"/>
                  </a:cubicBezTo>
                  <a:lnTo>
                    <a:pt x="6799580" y="2542159"/>
                  </a:lnTo>
                  <a:cubicBezTo>
                    <a:pt x="6799580" y="2822956"/>
                    <a:pt x="6571996" y="3050540"/>
                    <a:pt x="6291199" y="3050540"/>
                  </a:cubicBezTo>
                  <a:lnTo>
                    <a:pt x="508381" y="3050540"/>
                  </a:lnTo>
                  <a:cubicBezTo>
                    <a:pt x="227584" y="3050540"/>
                    <a:pt x="0" y="2822956"/>
                    <a:pt x="0" y="2542159"/>
                  </a:cubicBezTo>
                  <a:close/>
                </a:path>
              </a:pathLst>
            </a:custGeom>
            <a:solidFill>
              <a:srgbClr val="E9F7F6"/>
            </a:solidFill>
            <a:ln w="24765" cap="sq">
              <a:solidFill>
                <a:srgbClr val="418756"/>
              </a:solidFill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6799580" cy="306006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8304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KNOWLEDGE LOOP</a:t>
              </a:r>
            </a:p>
            <a:p>
              <a:pPr algn="l">
                <a:lnSpc>
                  <a:spcPts val="2052"/>
                </a:lnSpc>
              </a:pPr>
              <a:r>
                <a:rPr lang="en-US" sz="171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Skill Sprints • Knowledge Capsules • communities / mentors</a:t>
              </a:r>
            </a:p>
            <a:p>
              <a:pPr algn="l">
                <a:lnSpc>
                  <a:spcPts val="2052"/>
                </a:lnSpc>
              </a:pPr>
              <a:r>
                <a:rPr lang="en-US" sz="171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Feedback → evidence update → next learning action</a:t>
              </a:r>
            </a:p>
          </p:txBody>
        </p:sp>
      </p:grpSp>
      <p:sp>
        <p:nvSpPr>
          <p:cNvPr name="AutoShape 52" id="52"/>
          <p:cNvSpPr/>
          <p:nvPr/>
        </p:nvSpPr>
        <p:spPr>
          <a:xfrm rot="45960">
            <a:off x="1626746" y="4461891"/>
            <a:ext cx="2850137" cy="0"/>
          </a:xfrm>
          <a:prstGeom prst="line">
            <a:avLst/>
          </a:prstGeom>
          <a:ln cap="rnd" w="19050">
            <a:solidFill>
              <a:srgbClr val="5A5A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3" id="53"/>
          <p:cNvSpPr/>
          <p:nvPr/>
        </p:nvSpPr>
        <p:spPr>
          <a:xfrm rot="10600380">
            <a:off x="4438098" y="4461891"/>
            <a:ext cx="656425" cy="0"/>
          </a:xfrm>
          <a:prstGeom prst="line">
            <a:avLst/>
          </a:prstGeom>
          <a:ln cap="rnd" w="19050">
            <a:solidFill>
              <a:srgbClr val="5A5A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4" id="54"/>
          <p:cNvSpPr/>
          <p:nvPr/>
        </p:nvSpPr>
        <p:spPr>
          <a:xfrm rot="10767960">
            <a:off x="4438564" y="4461891"/>
            <a:ext cx="4084501" cy="0"/>
          </a:xfrm>
          <a:prstGeom prst="line">
            <a:avLst/>
          </a:prstGeom>
          <a:ln cap="rnd" w="19050">
            <a:solidFill>
              <a:srgbClr val="5A5A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5" id="55"/>
          <p:cNvSpPr/>
          <p:nvPr/>
        </p:nvSpPr>
        <p:spPr>
          <a:xfrm rot="10782540">
            <a:off x="4438602" y="4461891"/>
            <a:ext cx="7513415" cy="0"/>
          </a:xfrm>
          <a:prstGeom prst="line">
            <a:avLst/>
          </a:prstGeom>
          <a:ln cap="rnd" w="19050">
            <a:solidFill>
              <a:srgbClr val="5A5A5A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05840" y="-35243"/>
            <a:ext cx="16276320" cy="1632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750" b="true">
                <a:solidFill>
                  <a:srgbClr val="183048"/>
                </a:solidFill>
                <a:latin typeface="Georgia Bold"/>
                <a:ea typeface="Georgia Bold"/>
                <a:cs typeface="Georgia Bold"/>
                <a:sym typeface="Georgia Bold"/>
              </a:rPr>
              <a:t>FEASIBILITY &amp; VIABILITY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mo"/>
                  <a:ea typeface="Arimo"/>
                  <a:cs typeface="Arimo"/>
                  <a:sym typeface="Arimo"/>
                </a:rPr>
                <a:t>4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mo"/>
                  <a:ea typeface="Arimo"/>
                  <a:cs typeface="Arimo"/>
                  <a:sym typeface="Arimo"/>
                </a:rPr>
                <a:t>SIH 2026 • IDEA SUBMISSION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2" id="12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554516" cy="1665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YOUR TEAM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NAME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79157" y="1976438"/>
            <a:ext cx="5374005" cy="6471285"/>
            <a:chOff x="0" y="0"/>
            <a:chExt cx="7165340" cy="86283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65340" cy="8628380"/>
            </a:xfrm>
            <a:custGeom>
              <a:avLst/>
              <a:gdLst/>
              <a:ahLst/>
              <a:cxnLst/>
              <a:rect r="r" b="b" t="t" l="l"/>
              <a:pathLst>
                <a:path h="8628380" w="7165340">
                  <a:moveTo>
                    <a:pt x="0" y="1194308"/>
                  </a:moveTo>
                  <a:cubicBezTo>
                    <a:pt x="0" y="534670"/>
                    <a:pt x="534670" y="0"/>
                    <a:pt x="1194308" y="0"/>
                  </a:cubicBezTo>
                  <a:lnTo>
                    <a:pt x="5971032" y="0"/>
                  </a:lnTo>
                  <a:cubicBezTo>
                    <a:pt x="6630670" y="0"/>
                    <a:pt x="7165340" y="534670"/>
                    <a:pt x="7165340" y="1194308"/>
                  </a:cubicBezTo>
                  <a:lnTo>
                    <a:pt x="7165340" y="7434072"/>
                  </a:lnTo>
                  <a:cubicBezTo>
                    <a:pt x="7165340" y="8093583"/>
                    <a:pt x="6630670" y="8628380"/>
                    <a:pt x="5971032" y="8628380"/>
                  </a:cubicBezTo>
                  <a:lnTo>
                    <a:pt x="1194308" y="8628380"/>
                  </a:lnTo>
                  <a:cubicBezTo>
                    <a:pt x="534670" y="8628380"/>
                    <a:pt x="0" y="8093710"/>
                    <a:pt x="0" y="7434072"/>
                  </a:cubicBezTo>
                  <a:close/>
                </a:path>
              </a:pathLst>
            </a:custGeom>
            <a:solidFill>
              <a:srgbClr val="E9F7F6"/>
            </a:solidFill>
            <a:ln w="24765" cap="sq">
              <a:solidFill>
                <a:srgbClr val="418756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7165340" cy="862838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8304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BUILDABLE IN PHASES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Phase 1: role + competency catalogue and learner profiles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Phase 2: learning catalogue, assessments and knowledge repository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Phase 3: recommendations, skill sprints and analytics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Pilot one role family before organization-wide rollout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461570" y="1976438"/>
            <a:ext cx="5374005" cy="6471285"/>
            <a:chOff x="0" y="0"/>
            <a:chExt cx="7165340" cy="86283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165340" cy="8628380"/>
            </a:xfrm>
            <a:custGeom>
              <a:avLst/>
              <a:gdLst/>
              <a:ahLst/>
              <a:cxnLst/>
              <a:rect r="r" b="b" t="t" l="l"/>
              <a:pathLst>
                <a:path h="8628380" w="7165340">
                  <a:moveTo>
                    <a:pt x="0" y="1194308"/>
                  </a:moveTo>
                  <a:cubicBezTo>
                    <a:pt x="0" y="534670"/>
                    <a:pt x="534670" y="0"/>
                    <a:pt x="1194308" y="0"/>
                  </a:cubicBezTo>
                  <a:lnTo>
                    <a:pt x="5971032" y="0"/>
                  </a:lnTo>
                  <a:cubicBezTo>
                    <a:pt x="6630670" y="0"/>
                    <a:pt x="7165340" y="534670"/>
                    <a:pt x="7165340" y="1194308"/>
                  </a:cubicBezTo>
                  <a:lnTo>
                    <a:pt x="7165340" y="7434072"/>
                  </a:lnTo>
                  <a:cubicBezTo>
                    <a:pt x="7165340" y="8093583"/>
                    <a:pt x="6630670" y="8628380"/>
                    <a:pt x="5971032" y="8628380"/>
                  </a:cubicBezTo>
                  <a:lnTo>
                    <a:pt x="1194308" y="8628380"/>
                  </a:lnTo>
                  <a:cubicBezTo>
                    <a:pt x="534670" y="8628380"/>
                    <a:pt x="0" y="8093710"/>
                    <a:pt x="0" y="7434072"/>
                  </a:cubicBezTo>
                  <a:close/>
                </a:path>
              </a:pathLst>
            </a:custGeom>
            <a:solidFill>
              <a:srgbClr val="FBEFEF"/>
            </a:solidFill>
            <a:ln w="24765" cap="sq">
              <a:solidFill>
                <a:srgbClr val="B94646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7165340" cy="862838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8304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REAL RISKS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Competency definitions become outdated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Low participation or “tick-box” course completion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Sensitive employee / organizational data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Poor recommendations from weak source data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Integration with existing HR/LMS systems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043982" y="1976438"/>
            <a:ext cx="5374005" cy="6471285"/>
            <a:chOff x="0" y="0"/>
            <a:chExt cx="7165340" cy="86283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165340" cy="8628380"/>
            </a:xfrm>
            <a:custGeom>
              <a:avLst/>
              <a:gdLst/>
              <a:ahLst/>
              <a:cxnLst/>
              <a:rect r="r" b="b" t="t" l="l"/>
              <a:pathLst>
                <a:path h="8628380" w="7165340">
                  <a:moveTo>
                    <a:pt x="0" y="1194308"/>
                  </a:moveTo>
                  <a:cubicBezTo>
                    <a:pt x="0" y="534670"/>
                    <a:pt x="534670" y="0"/>
                    <a:pt x="1194308" y="0"/>
                  </a:cubicBezTo>
                  <a:lnTo>
                    <a:pt x="5971032" y="0"/>
                  </a:lnTo>
                  <a:cubicBezTo>
                    <a:pt x="6630670" y="0"/>
                    <a:pt x="7165340" y="534670"/>
                    <a:pt x="7165340" y="1194308"/>
                  </a:cubicBezTo>
                  <a:lnTo>
                    <a:pt x="7165340" y="7434072"/>
                  </a:lnTo>
                  <a:cubicBezTo>
                    <a:pt x="7165340" y="8093583"/>
                    <a:pt x="6630670" y="8628380"/>
                    <a:pt x="5971032" y="8628380"/>
                  </a:cubicBezTo>
                  <a:lnTo>
                    <a:pt x="1194308" y="8628380"/>
                  </a:lnTo>
                  <a:cubicBezTo>
                    <a:pt x="534670" y="8628380"/>
                    <a:pt x="0" y="8093710"/>
                    <a:pt x="0" y="7434072"/>
                  </a:cubicBezTo>
                  <a:close/>
                </a:path>
              </a:pathLst>
            </a:custGeom>
            <a:solidFill>
              <a:srgbClr val="E8F2FA"/>
            </a:solidFill>
            <a:ln w="24765" cap="sq">
              <a:solidFill>
                <a:srgbClr val="0074BE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7165340" cy="862838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8304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DESIGN CONTROLS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Owner + review date for every competency / capsule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Practice + evidence, not completion alone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RBAC, consent where required, encryption and audit logs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Human review + confidence indicators for recommendations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API-first integration and staged deployment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05840" y="-35243"/>
            <a:ext cx="16276320" cy="1632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750" b="true">
                <a:solidFill>
                  <a:srgbClr val="183048"/>
                </a:solidFill>
                <a:latin typeface="Georgia Bold"/>
                <a:ea typeface="Georgia Bold"/>
                <a:cs typeface="Georgia Bold"/>
                <a:sym typeface="Georgia Bold"/>
              </a:rPr>
              <a:t>IMPACT &amp; BENEFITS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mo"/>
                  <a:ea typeface="Arimo"/>
                  <a:cs typeface="Arimo"/>
                  <a:sym typeface="Arimo"/>
                </a:rPr>
                <a:t>5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mo"/>
                  <a:ea typeface="Arimo"/>
                  <a:cs typeface="Arimo"/>
                  <a:sym typeface="Arimo"/>
                </a:rPr>
                <a:t>SIH 2026 • IDEA SUBMISSION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2" id="12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554516" cy="1665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YOUR TEAM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NAME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37260" y="1938528"/>
            <a:ext cx="1636776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true">
                <a:solidFill>
                  <a:srgbClr val="0070C0"/>
                </a:solidFill>
                <a:latin typeface="Aptos Bold"/>
                <a:ea typeface="Aptos Bold"/>
                <a:cs typeface="Aptos Bold"/>
                <a:sym typeface="Aptos Bold"/>
              </a:rPr>
              <a:t>ONE LEARNING SYSTEM • THREE LEVELS OF VALUE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79157" y="2593658"/>
            <a:ext cx="5168265" cy="3110865"/>
            <a:chOff x="0" y="0"/>
            <a:chExt cx="6891020" cy="41478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91020" cy="4147820"/>
            </a:xfrm>
            <a:custGeom>
              <a:avLst/>
              <a:gdLst/>
              <a:ahLst/>
              <a:cxnLst/>
              <a:rect r="r" b="b" t="t" l="l"/>
              <a:pathLst>
                <a:path h="4147820" w="6891020">
                  <a:moveTo>
                    <a:pt x="0" y="691261"/>
                  </a:moveTo>
                  <a:cubicBezTo>
                    <a:pt x="0" y="309499"/>
                    <a:pt x="309499" y="0"/>
                    <a:pt x="691261" y="0"/>
                  </a:cubicBezTo>
                  <a:lnTo>
                    <a:pt x="6199759" y="0"/>
                  </a:lnTo>
                  <a:cubicBezTo>
                    <a:pt x="6581522" y="0"/>
                    <a:pt x="6891020" y="309499"/>
                    <a:pt x="6891020" y="691261"/>
                  </a:cubicBezTo>
                  <a:lnTo>
                    <a:pt x="6891020" y="3456559"/>
                  </a:lnTo>
                  <a:cubicBezTo>
                    <a:pt x="6891020" y="3838321"/>
                    <a:pt x="6581522" y="4147820"/>
                    <a:pt x="6199759" y="4147820"/>
                  </a:cubicBezTo>
                  <a:lnTo>
                    <a:pt x="691261" y="4147820"/>
                  </a:lnTo>
                  <a:cubicBezTo>
                    <a:pt x="309499" y="4147820"/>
                    <a:pt x="0" y="3838321"/>
                    <a:pt x="0" y="3456559"/>
                  </a:cubicBezTo>
                  <a:close/>
                </a:path>
              </a:pathLst>
            </a:custGeom>
            <a:solidFill>
              <a:srgbClr val="E8F2FA"/>
            </a:solidFill>
            <a:ln w="24765" cap="sq">
              <a:solidFill>
                <a:srgbClr val="0074BE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6891020" cy="414782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8304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EMPLOYEE / LEARNER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Personal capability map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Focused learning path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Practice + evidence of application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571297" y="2593658"/>
            <a:ext cx="5168265" cy="3110865"/>
            <a:chOff x="0" y="0"/>
            <a:chExt cx="6891020" cy="41478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91020" cy="4147820"/>
            </a:xfrm>
            <a:custGeom>
              <a:avLst/>
              <a:gdLst/>
              <a:ahLst/>
              <a:cxnLst/>
              <a:rect r="r" b="b" t="t" l="l"/>
              <a:pathLst>
                <a:path h="4147820" w="6891020">
                  <a:moveTo>
                    <a:pt x="0" y="691261"/>
                  </a:moveTo>
                  <a:cubicBezTo>
                    <a:pt x="0" y="309499"/>
                    <a:pt x="309499" y="0"/>
                    <a:pt x="691261" y="0"/>
                  </a:cubicBezTo>
                  <a:lnTo>
                    <a:pt x="6199759" y="0"/>
                  </a:lnTo>
                  <a:cubicBezTo>
                    <a:pt x="6581522" y="0"/>
                    <a:pt x="6891020" y="309499"/>
                    <a:pt x="6891020" y="691261"/>
                  </a:cubicBezTo>
                  <a:lnTo>
                    <a:pt x="6891020" y="3456559"/>
                  </a:lnTo>
                  <a:cubicBezTo>
                    <a:pt x="6891020" y="3838321"/>
                    <a:pt x="6581522" y="4147820"/>
                    <a:pt x="6199759" y="4147820"/>
                  </a:cubicBezTo>
                  <a:lnTo>
                    <a:pt x="691261" y="4147820"/>
                  </a:lnTo>
                  <a:cubicBezTo>
                    <a:pt x="309499" y="4147820"/>
                    <a:pt x="0" y="3838321"/>
                    <a:pt x="0" y="3456559"/>
                  </a:cubicBezTo>
                  <a:close/>
                </a:path>
              </a:pathLst>
            </a:custGeom>
            <a:solidFill>
              <a:srgbClr val="F3EEF9"/>
            </a:solidFill>
            <a:ln w="24765" cap="sq">
              <a:solidFill>
                <a:srgbClr val="7653A5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6891020" cy="414782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8304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MANAGER / L&amp;D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Team capability heatmap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Priority-gap visibility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Mentor / learning interventions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263438" y="2593658"/>
            <a:ext cx="5168265" cy="3110865"/>
            <a:chOff x="0" y="0"/>
            <a:chExt cx="6891020" cy="41478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91020" cy="4147820"/>
            </a:xfrm>
            <a:custGeom>
              <a:avLst/>
              <a:gdLst/>
              <a:ahLst/>
              <a:cxnLst/>
              <a:rect r="r" b="b" t="t" l="l"/>
              <a:pathLst>
                <a:path h="4147820" w="6891020">
                  <a:moveTo>
                    <a:pt x="0" y="691261"/>
                  </a:moveTo>
                  <a:cubicBezTo>
                    <a:pt x="0" y="309499"/>
                    <a:pt x="309499" y="0"/>
                    <a:pt x="691261" y="0"/>
                  </a:cubicBezTo>
                  <a:lnTo>
                    <a:pt x="6199759" y="0"/>
                  </a:lnTo>
                  <a:cubicBezTo>
                    <a:pt x="6581522" y="0"/>
                    <a:pt x="6891020" y="309499"/>
                    <a:pt x="6891020" y="691261"/>
                  </a:cubicBezTo>
                  <a:lnTo>
                    <a:pt x="6891020" y="3456559"/>
                  </a:lnTo>
                  <a:cubicBezTo>
                    <a:pt x="6891020" y="3838321"/>
                    <a:pt x="6581522" y="4147820"/>
                    <a:pt x="6199759" y="4147820"/>
                  </a:cubicBezTo>
                  <a:lnTo>
                    <a:pt x="691261" y="4147820"/>
                  </a:lnTo>
                  <a:cubicBezTo>
                    <a:pt x="309499" y="4147820"/>
                    <a:pt x="0" y="3838321"/>
                    <a:pt x="0" y="3456559"/>
                  </a:cubicBezTo>
                  <a:close/>
                </a:path>
              </a:pathLst>
            </a:custGeom>
            <a:solidFill>
              <a:srgbClr val="E9F7F6"/>
            </a:solidFill>
            <a:ln w="24765" cap="sq">
              <a:solidFill>
                <a:srgbClr val="418756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6891020" cy="414782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8304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ORGANIZATION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Reusable knowledge base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Better visibility of capability supply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Evidence for workforce development decisions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rot="222900">
            <a:off x="5946791" y="4105275"/>
            <a:ext cx="587978" cy="0"/>
          </a:xfrm>
          <a:prstGeom prst="line">
            <a:avLst/>
          </a:prstGeom>
          <a:ln cap="rnd" w="19050">
            <a:solidFill>
              <a:srgbClr val="E884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rot="222900">
            <a:off x="11638931" y="4105275"/>
            <a:ext cx="587978" cy="0"/>
          </a:xfrm>
          <a:prstGeom prst="line">
            <a:avLst/>
          </a:prstGeom>
          <a:ln cap="rnd" w="19050">
            <a:solidFill>
              <a:srgbClr val="E884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937260" y="6286500"/>
            <a:ext cx="1636776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0070C0"/>
                </a:solidFill>
                <a:latin typeface="Aptos Bold"/>
                <a:ea typeface="Aptos Bold"/>
                <a:cs typeface="Aptos Bold"/>
                <a:sym typeface="Aptos Bold"/>
              </a:rPr>
              <a:t>SUCCESS METRICS — MEASURED AFTER PILOT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884396" y="6850856"/>
            <a:ext cx="727520" cy="727520"/>
            <a:chOff x="0" y="0"/>
            <a:chExt cx="970026" cy="97002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70026" cy="970026"/>
            </a:xfrm>
            <a:custGeom>
              <a:avLst/>
              <a:gdLst/>
              <a:ahLst/>
              <a:cxnLst/>
              <a:rect r="r" b="b" t="t" l="l"/>
              <a:pathLst>
                <a:path h="970026" w="970026">
                  <a:moveTo>
                    <a:pt x="0" y="485013"/>
                  </a:moveTo>
                  <a:cubicBezTo>
                    <a:pt x="0" y="217170"/>
                    <a:pt x="217170" y="0"/>
                    <a:pt x="485013" y="0"/>
                  </a:cubicBezTo>
                  <a:cubicBezTo>
                    <a:pt x="752856" y="0"/>
                    <a:pt x="970026" y="217170"/>
                    <a:pt x="970026" y="485013"/>
                  </a:cubicBezTo>
                  <a:cubicBezTo>
                    <a:pt x="970026" y="752856"/>
                    <a:pt x="752856" y="970026"/>
                    <a:pt x="485013" y="970026"/>
                  </a:cubicBezTo>
                  <a:cubicBezTo>
                    <a:pt x="217170" y="970026"/>
                    <a:pt x="0" y="752856"/>
                    <a:pt x="0" y="485013"/>
                  </a:cubicBezTo>
                  <a:close/>
                </a:path>
              </a:pathLst>
            </a:custGeom>
            <a:solidFill>
              <a:srgbClr val="0074BE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970026" cy="9700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↑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787652" y="6844665"/>
            <a:ext cx="3131820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 b="true">
                <a:solidFill>
                  <a:srgbClr val="183048"/>
                </a:solidFill>
                <a:latin typeface="Aptos Bold"/>
                <a:ea typeface="Aptos Bold"/>
                <a:cs typeface="Aptos Bold"/>
                <a:sym typeface="Aptos Bold"/>
              </a:rPr>
              <a:t>Competency visibility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87652" y="7370064"/>
            <a:ext cx="3131820" cy="896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7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rPr>
              <a:t>Priority competencies with current evidence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5067776" y="6850856"/>
            <a:ext cx="727520" cy="727520"/>
            <a:chOff x="0" y="0"/>
            <a:chExt cx="970026" cy="97002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70026" cy="970026"/>
            </a:xfrm>
            <a:custGeom>
              <a:avLst/>
              <a:gdLst/>
              <a:ahLst/>
              <a:cxnLst/>
              <a:rect r="r" b="b" t="t" l="l"/>
              <a:pathLst>
                <a:path h="970026" w="970026">
                  <a:moveTo>
                    <a:pt x="0" y="485013"/>
                  </a:moveTo>
                  <a:cubicBezTo>
                    <a:pt x="0" y="217170"/>
                    <a:pt x="217170" y="0"/>
                    <a:pt x="485013" y="0"/>
                  </a:cubicBezTo>
                  <a:cubicBezTo>
                    <a:pt x="752856" y="0"/>
                    <a:pt x="970026" y="217170"/>
                    <a:pt x="970026" y="485013"/>
                  </a:cubicBezTo>
                  <a:cubicBezTo>
                    <a:pt x="970026" y="752856"/>
                    <a:pt x="752856" y="970026"/>
                    <a:pt x="485013" y="970026"/>
                  </a:cubicBezTo>
                  <a:cubicBezTo>
                    <a:pt x="217170" y="970026"/>
                    <a:pt x="0" y="752856"/>
                    <a:pt x="0" y="485013"/>
                  </a:cubicBezTo>
                  <a:close/>
                </a:path>
              </a:pathLst>
            </a:custGeom>
            <a:solidFill>
              <a:srgbClr val="E8842D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970026" cy="9700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↓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5971032" y="6844665"/>
            <a:ext cx="3131820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 b="true">
                <a:solidFill>
                  <a:srgbClr val="183048"/>
                </a:solidFill>
                <a:latin typeface="Aptos Bold"/>
                <a:ea typeface="Aptos Bold"/>
                <a:cs typeface="Aptos Bold"/>
                <a:sym typeface="Aptos Bold"/>
              </a:rPr>
              <a:t>Time-to-competence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971032" y="7370064"/>
            <a:ext cx="3131820" cy="896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7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rPr>
              <a:t>Time from gap identification to demonstrated capability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251156" y="6850856"/>
            <a:ext cx="727520" cy="727520"/>
            <a:chOff x="0" y="0"/>
            <a:chExt cx="970026" cy="97002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70026" cy="970026"/>
            </a:xfrm>
            <a:custGeom>
              <a:avLst/>
              <a:gdLst/>
              <a:ahLst/>
              <a:cxnLst/>
              <a:rect r="r" b="b" t="t" l="l"/>
              <a:pathLst>
                <a:path h="970026" w="970026">
                  <a:moveTo>
                    <a:pt x="0" y="485013"/>
                  </a:moveTo>
                  <a:cubicBezTo>
                    <a:pt x="0" y="217170"/>
                    <a:pt x="217170" y="0"/>
                    <a:pt x="485013" y="0"/>
                  </a:cubicBezTo>
                  <a:cubicBezTo>
                    <a:pt x="752856" y="0"/>
                    <a:pt x="970026" y="217170"/>
                    <a:pt x="970026" y="485013"/>
                  </a:cubicBezTo>
                  <a:cubicBezTo>
                    <a:pt x="970026" y="752856"/>
                    <a:pt x="752856" y="970026"/>
                    <a:pt x="485013" y="970026"/>
                  </a:cubicBezTo>
                  <a:cubicBezTo>
                    <a:pt x="217170" y="970026"/>
                    <a:pt x="0" y="752856"/>
                    <a:pt x="0" y="485013"/>
                  </a:cubicBezTo>
                  <a:close/>
                </a:path>
              </a:pathLst>
            </a:custGeom>
            <a:solidFill>
              <a:srgbClr val="418756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970026" cy="9700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↑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0154412" y="6844665"/>
            <a:ext cx="3131820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 b="true">
                <a:solidFill>
                  <a:srgbClr val="183048"/>
                </a:solidFill>
                <a:latin typeface="Aptos Bold"/>
                <a:ea typeface="Aptos Bold"/>
                <a:cs typeface="Aptos Bold"/>
                <a:sym typeface="Aptos Bold"/>
              </a:rPr>
              <a:t>Knowledge reuse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154412" y="7370064"/>
            <a:ext cx="3131820" cy="896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7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rPr>
              <a:t>Useful knowledge assets reused across teams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3434536" y="6850856"/>
            <a:ext cx="727520" cy="727520"/>
            <a:chOff x="0" y="0"/>
            <a:chExt cx="970026" cy="97002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70026" cy="970026"/>
            </a:xfrm>
            <a:custGeom>
              <a:avLst/>
              <a:gdLst/>
              <a:ahLst/>
              <a:cxnLst/>
              <a:rect r="r" b="b" t="t" l="l"/>
              <a:pathLst>
                <a:path h="970026" w="970026">
                  <a:moveTo>
                    <a:pt x="0" y="485013"/>
                  </a:moveTo>
                  <a:cubicBezTo>
                    <a:pt x="0" y="217170"/>
                    <a:pt x="217170" y="0"/>
                    <a:pt x="485013" y="0"/>
                  </a:cubicBezTo>
                  <a:cubicBezTo>
                    <a:pt x="752856" y="0"/>
                    <a:pt x="970026" y="217170"/>
                    <a:pt x="970026" y="485013"/>
                  </a:cubicBezTo>
                  <a:cubicBezTo>
                    <a:pt x="970026" y="752856"/>
                    <a:pt x="752856" y="970026"/>
                    <a:pt x="485013" y="970026"/>
                  </a:cubicBezTo>
                  <a:cubicBezTo>
                    <a:pt x="217170" y="970026"/>
                    <a:pt x="0" y="752856"/>
                    <a:pt x="0" y="485013"/>
                  </a:cubicBezTo>
                  <a:close/>
                </a:path>
              </a:pathLst>
            </a:custGeom>
            <a:solidFill>
              <a:srgbClr val="7653A5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970026" cy="9700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↺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4337792" y="6844665"/>
            <a:ext cx="3131820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 b="true">
                <a:solidFill>
                  <a:srgbClr val="183048"/>
                </a:solidFill>
                <a:latin typeface="Aptos Bold"/>
                <a:ea typeface="Aptos Bold"/>
                <a:cs typeface="Aptos Bold"/>
                <a:sym typeface="Aptos Bold"/>
              </a:rPr>
              <a:t>Learning continuity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337792" y="7370064"/>
            <a:ext cx="3131820" cy="896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70">
                <a:solidFill>
                  <a:srgbClr val="232323"/>
                </a:solidFill>
                <a:latin typeface="Aptos"/>
                <a:ea typeface="Aptos"/>
                <a:cs typeface="Aptos"/>
                <a:sym typeface="Aptos"/>
              </a:rPr>
              <a:t>Evidence + feedback reflected in the next learning action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05840" y="-35243"/>
            <a:ext cx="16276320" cy="1632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750" b="true">
                <a:solidFill>
                  <a:srgbClr val="183048"/>
                </a:solidFill>
                <a:latin typeface="Georgia Bold"/>
                <a:ea typeface="Georgia Bold"/>
                <a:cs typeface="Georgia Bold"/>
                <a:sym typeface="Georgia Bold"/>
              </a:rPr>
              <a:t>RESEARCH BASIS &amp; REFERENCES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mo"/>
                  <a:ea typeface="Arimo"/>
                  <a:cs typeface="Arimo"/>
                  <a:sym typeface="Arimo"/>
                </a:rPr>
                <a:t>6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mo"/>
                  <a:ea typeface="Arimo"/>
                  <a:cs typeface="Arimo"/>
                  <a:sym typeface="Arimo"/>
                </a:rPr>
                <a:t>SIH 2026 • IDEA SUBMISSION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2" id="12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554516" cy="1665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YOUR TEAM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NAME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47738" y="1976438"/>
            <a:ext cx="8185785" cy="6539865"/>
            <a:chOff x="0" y="0"/>
            <a:chExt cx="10914380" cy="87198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14380" cy="8719820"/>
            </a:xfrm>
            <a:custGeom>
              <a:avLst/>
              <a:gdLst/>
              <a:ahLst/>
              <a:cxnLst/>
              <a:rect r="r" b="b" t="t" l="l"/>
              <a:pathLst>
                <a:path h="8719820" w="10914380">
                  <a:moveTo>
                    <a:pt x="0" y="1453388"/>
                  </a:moveTo>
                  <a:cubicBezTo>
                    <a:pt x="0" y="650621"/>
                    <a:pt x="650621" y="0"/>
                    <a:pt x="1453388" y="0"/>
                  </a:cubicBezTo>
                  <a:lnTo>
                    <a:pt x="9460992" y="0"/>
                  </a:lnTo>
                  <a:cubicBezTo>
                    <a:pt x="10263759" y="0"/>
                    <a:pt x="10914380" y="650621"/>
                    <a:pt x="10914380" y="1453388"/>
                  </a:cubicBezTo>
                  <a:lnTo>
                    <a:pt x="10914380" y="7266432"/>
                  </a:lnTo>
                  <a:cubicBezTo>
                    <a:pt x="10914380" y="8069072"/>
                    <a:pt x="10263760" y="8719820"/>
                    <a:pt x="9460992" y="8719820"/>
                  </a:cubicBezTo>
                  <a:lnTo>
                    <a:pt x="1453388" y="8719820"/>
                  </a:lnTo>
                  <a:cubicBezTo>
                    <a:pt x="650621" y="8719820"/>
                    <a:pt x="0" y="8069199"/>
                    <a:pt x="0" y="7266432"/>
                  </a:cubicBezTo>
                  <a:close/>
                </a:path>
              </a:pathLst>
            </a:custGeom>
            <a:solidFill>
              <a:srgbClr val="E8F2FA"/>
            </a:solidFill>
            <a:ln w="24765" cap="sq">
              <a:solidFill>
                <a:srgbClr val="0074BE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0914380" cy="871982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8304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WHAT COMES FROM THE PS</a:t>
              </a:r>
            </a:p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SIH26075: centralized web-based platform for organizational training, competency development and knowledge sharing.</a:t>
              </a:r>
            </a:p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Sponsor: Ministry of Earth Sciences (MoES) • Theme: Smart Education • Category: Software.</a:t>
              </a:r>
            </a:p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Capability Map, Skill Sprints, Knowledge Capsules and the feedback loop are proposed solution concepts — not claims made by the problem statement.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451657" y="1976438"/>
            <a:ext cx="7911465" cy="6539865"/>
            <a:chOff x="0" y="0"/>
            <a:chExt cx="10548620" cy="87198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548620" cy="8719820"/>
            </a:xfrm>
            <a:custGeom>
              <a:avLst/>
              <a:gdLst/>
              <a:ahLst/>
              <a:cxnLst/>
              <a:rect r="r" b="b" t="t" l="l"/>
              <a:pathLst>
                <a:path h="8719820" w="10548620">
                  <a:moveTo>
                    <a:pt x="0" y="1453388"/>
                  </a:moveTo>
                  <a:cubicBezTo>
                    <a:pt x="0" y="650621"/>
                    <a:pt x="650621" y="0"/>
                    <a:pt x="1453388" y="0"/>
                  </a:cubicBezTo>
                  <a:lnTo>
                    <a:pt x="9095232" y="0"/>
                  </a:lnTo>
                  <a:cubicBezTo>
                    <a:pt x="9897999" y="0"/>
                    <a:pt x="10548620" y="650621"/>
                    <a:pt x="10548620" y="1453388"/>
                  </a:cubicBezTo>
                  <a:lnTo>
                    <a:pt x="10548620" y="7266432"/>
                  </a:lnTo>
                  <a:cubicBezTo>
                    <a:pt x="10548620" y="8069072"/>
                    <a:pt x="9897999" y="8719820"/>
                    <a:pt x="9095232" y="8719820"/>
                  </a:cubicBezTo>
                  <a:lnTo>
                    <a:pt x="1453388" y="8719820"/>
                  </a:lnTo>
                  <a:cubicBezTo>
                    <a:pt x="650621" y="8719820"/>
                    <a:pt x="0" y="8069199"/>
                    <a:pt x="0" y="7266432"/>
                  </a:cubicBezTo>
                  <a:close/>
                </a:path>
              </a:pathLst>
            </a:custGeom>
            <a:solidFill>
              <a:srgbClr val="F3EEF9"/>
            </a:solidFill>
            <a:ln w="24765" cap="sq">
              <a:solidFill>
                <a:srgbClr val="7653A5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0548620" cy="871982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8304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REFERENCES</a:t>
              </a:r>
            </a:p>
            <a:p>
              <a:pPr algn="l">
                <a:lnSpc>
                  <a:spcPts val="1834"/>
                </a:lnSpc>
              </a:pPr>
              <a:r>
                <a:rPr lang="en-US" sz="1528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1. Smart India Hackathon 2026 — All 226 Problem Statements Master Catalogue (provided source), PS SIH26075.</a:t>
              </a:r>
            </a:p>
            <a:p>
              <a:pPr algn="l">
                <a:lnSpc>
                  <a:spcPts val="1834"/>
                </a:lnSpc>
              </a:pPr>
              <a:r>
                <a:rPr lang="en-US" sz="1528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2. Smart India Hackathon 2026 — Idea Presentation Format (provided template).</a:t>
              </a:r>
            </a:p>
            <a:p>
              <a:pPr algn="l">
                <a:lnSpc>
                  <a:spcPts val="1834"/>
                </a:lnSpc>
              </a:pPr>
              <a:r>
                <a:rPr lang="en-US" sz="1528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3. ISO 30401:2018 — Knowledge management systems: requirements and guidance for organizational knowledge management.</a:t>
              </a:r>
            </a:p>
            <a:p>
              <a:pPr algn="l">
                <a:lnSpc>
                  <a:spcPts val="1834"/>
                </a:lnSpc>
              </a:pPr>
              <a:r>
                <a:rPr lang="en-US" sz="1528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4. NIST AI RMF 1.0 — reference for trustworthy AI risk controls when recommendations use AI.</a:t>
              </a:r>
            </a:p>
            <a:p>
              <a:pPr algn="l">
                <a:lnSpc>
                  <a:spcPts val="1834"/>
                </a:lnSpc>
              </a:pPr>
              <a:r>
                <a:rPr lang="en-US" sz="1528">
                  <a:solidFill>
                    <a:srgbClr val="232323"/>
                  </a:solidFill>
                  <a:latin typeface="Aptos"/>
                  <a:ea typeface="Aptos"/>
                  <a:cs typeface="Aptos"/>
                  <a:sym typeface="Aptos"/>
                </a:rPr>
                <a:t>5. W3C WCAG 2.2 — accessibility reference for the web interface.</a:t>
              </a:r>
            </a:p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5A5A5A"/>
                  </a:solidFill>
                  <a:latin typeface="Aptos"/>
                  <a:ea typeface="Aptos"/>
                  <a:cs typeface="Aptos"/>
                  <a:sym typeface="Aptos"/>
                </a:rPr>
                <a:t>iso.org/standard/68683  •  nist.gov/itl/ai-risk-management-framework  •  w3.org/TR/WCAG22/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DAHVL2meONw</dc:identifier>
  <dcterms:modified xsi:type="dcterms:W3CDTF">2011-08-01T06:04:30Z</dcterms:modified>
  <cp:revision>1</cp:revision>
  <dc:title>SIH2026_PS75_CapacityConnect_Refined.pptx</dc:title>
</cp:coreProperties>
</file>